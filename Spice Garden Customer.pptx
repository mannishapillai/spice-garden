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Canva Sans Bold" charset="1" panose="020B0803030501040103"/>
      <p:regular r:id="rId17"/>
    </p:embeddedFont>
    <p:embeddedFont>
      <p:font typeface="Open Sauce" charset="1" panose="00000500000000000000"/>
      <p:regular r:id="rId18"/>
    </p:embeddedFont>
    <p:embeddedFont>
      <p:font typeface="Open Sauce Bold" charset="1" panose="0000080000000000000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svg" Type="http://schemas.openxmlformats.org/officeDocument/2006/relationships/image"/><Relationship Id="rId11" Target="../media/image8.png" Type="http://schemas.openxmlformats.org/officeDocument/2006/relationships/image"/><Relationship Id="rId12" Target="../media/image9.svg" Type="http://schemas.openxmlformats.org/officeDocument/2006/relationships/image"/><Relationship Id="rId13" Target="../media/image15.png" Type="http://schemas.openxmlformats.org/officeDocument/2006/relationships/image"/><Relationship Id="rId2" Target="../media/image2.png" Type="http://schemas.openxmlformats.org/officeDocument/2006/relationships/image"/><Relationship Id="rId3" Target="../media/image3.svg" Type="http://schemas.openxmlformats.org/officeDocument/2006/relationships/image"/><Relationship Id="rId4" Target="../media/image10.png" Type="http://schemas.openxmlformats.org/officeDocument/2006/relationships/image"/><Relationship Id="rId5" Target="../media/image11.png" Type="http://schemas.openxmlformats.org/officeDocument/2006/relationships/image"/><Relationship Id="rId6" Target="../media/image12.svg" Type="http://schemas.openxmlformats.org/officeDocument/2006/relationships/image"/><Relationship Id="rId7" Target="../media/image13.png" Type="http://schemas.openxmlformats.org/officeDocument/2006/relationships/image"/><Relationship Id="rId8" Target="../media/image14.svg" Type="http://schemas.openxmlformats.org/officeDocument/2006/relationships/image"/><Relationship Id="rId9" Target="../media/image6.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svg" Type="http://schemas.openxmlformats.org/officeDocument/2006/relationships/image"/><Relationship Id="rId11" Target="../media/image6.png" Type="http://schemas.openxmlformats.org/officeDocument/2006/relationships/image"/><Relationship Id="rId12" Target="../media/image7.svg" Type="http://schemas.openxmlformats.org/officeDocument/2006/relationships/image"/><Relationship Id="rId13" Target="../media/image8.png" Type="http://schemas.openxmlformats.org/officeDocument/2006/relationships/image"/><Relationship Id="rId14" Target="../media/image9.svg" Type="http://schemas.openxmlformats.org/officeDocument/2006/relationships/image"/><Relationship Id="rId2" Target="../media/image2.png" Type="http://schemas.openxmlformats.org/officeDocument/2006/relationships/image"/><Relationship Id="rId3" Target="../media/image3.svg" Type="http://schemas.openxmlformats.org/officeDocument/2006/relationships/image"/><Relationship Id="rId4" Target="../media/image16.png" Type="http://schemas.openxmlformats.org/officeDocument/2006/relationships/image"/><Relationship Id="rId5" Target="../media/image17.png" Type="http://schemas.openxmlformats.org/officeDocument/2006/relationships/image"/><Relationship Id="rId6" Target="../media/image18.svg" Type="http://schemas.openxmlformats.org/officeDocument/2006/relationships/image"/><Relationship Id="rId7" Target="../media/image19.png" Type="http://schemas.openxmlformats.org/officeDocument/2006/relationships/image"/><Relationship Id="rId8" Target="../media/image20.svg" Type="http://schemas.openxmlformats.org/officeDocument/2006/relationships/image"/><Relationship Id="rId9" Target="../media/image1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6.png" Type="http://schemas.openxmlformats.org/officeDocument/2006/relationships/image"/><Relationship Id="rId12" Target="../media/image7.svg" Type="http://schemas.openxmlformats.org/officeDocument/2006/relationships/image"/><Relationship Id="rId13" Target="../media/image8.png" Type="http://schemas.openxmlformats.org/officeDocument/2006/relationships/image"/><Relationship Id="rId14" Target="../media/image9.svg" Type="http://schemas.openxmlformats.org/officeDocument/2006/relationships/image"/><Relationship Id="rId2" Target="../media/image2.png" Type="http://schemas.openxmlformats.org/officeDocument/2006/relationships/image"/><Relationship Id="rId3" Target="../media/image3.svg" Type="http://schemas.openxmlformats.org/officeDocument/2006/relationships/image"/><Relationship Id="rId4" Target="../media/image21.png" Type="http://schemas.openxmlformats.org/officeDocument/2006/relationships/image"/><Relationship Id="rId5" Target="../media/image22.svg" Type="http://schemas.openxmlformats.org/officeDocument/2006/relationships/image"/><Relationship Id="rId6" Target="../media/image23.png" Type="http://schemas.openxmlformats.org/officeDocument/2006/relationships/image"/><Relationship Id="rId7" Target="../media/image24.svg" Type="http://schemas.openxmlformats.org/officeDocument/2006/relationships/image"/><Relationship Id="rId8" Target="../media/image4.png" Type="http://schemas.openxmlformats.org/officeDocument/2006/relationships/image"/><Relationship Id="rId9" Target="../media/image5.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svg" Type="http://schemas.openxmlformats.org/officeDocument/2006/relationships/image"/><Relationship Id="rId11" Target="../media/image8.png" Type="http://schemas.openxmlformats.org/officeDocument/2006/relationships/image"/><Relationship Id="rId12" Target="../media/image9.svg" Type="http://schemas.openxmlformats.org/officeDocument/2006/relationships/image"/><Relationship Id="rId13" Target="../media/image27.png" Type="http://schemas.openxmlformats.org/officeDocument/2006/relationships/image"/><Relationship Id="rId2" Target="../media/image2.png" Type="http://schemas.openxmlformats.org/officeDocument/2006/relationships/image"/><Relationship Id="rId3" Target="../media/image3.svg" Type="http://schemas.openxmlformats.org/officeDocument/2006/relationships/image"/><Relationship Id="rId4" Target="../media/image26.png" Type="http://schemas.openxmlformats.org/officeDocument/2006/relationships/image"/><Relationship Id="rId5" Target="../media/image11.png" Type="http://schemas.openxmlformats.org/officeDocument/2006/relationships/image"/><Relationship Id="rId6" Target="../media/image12.svg" Type="http://schemas.openxmlformats.org/officeDocument/2006/relationships/image"/><Relationship Id="rId7" Target="../media/image13.png" Type="http://schemas.openxmlformats.org/officeDocument/2006/relationships/image"/><Relationship Id="rId8" Target="../media/image14.svg" Type="http://schemas.openxmlformats.org/officeDocument/2006/relationships/image"/><Relationship Id="rId9" Target="../media/image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8.png" Type="http://schemas.openxmlformats.org/officeDocument/2006/relationships/image"/><Relationship Id="rId11" Target="../media/image6.png" Type="http://schemas.openxmlformats.org/officeDocument/2006/relationships/image"/><Relationship Id="rId12" Target="../media/image7.svg" Type="http://schemas.openxmlformats.org/officeDocument/2006/relationships/image"/><Relationship Id="rId13" Target="../media/image8.png" Type="http://schemas.openxmlformats.org/officeDocument/2006/relationships/image"/><Relationship Id="rId14" Target="../media/image9.svg" Type="http://schemas.openxmlformats.org/officeDocument/2006/relationships/image"/><Relationship Id="rId2" Target="../media/image2.png" Type="http://schemas.openxmlformats.org/officeDocument/2006/relationships/image"/><Relationship Id="rId3" Target="../media/image3.svg" Type="http://schemas.openxmlformats.org/officeDocument/2006/relationships/image"/><Relationship Id="rId4" Target="../media/image21.png" Type="http://schemas.openxmlformats.org/officeDocument/2006/relationships/image"/><Relationship Id="rId5" Target="../media/image22.svg" Type="http://schemas.openxmlformats.org/officeDocument/2006/relationships/image"/><Relationship Id="rId6" Target="../media/image23.png" Type="http://schemas.openxmlformats.org/officeDocument/2006/relationships/image"/><Relationship Id="rId7" Target="../media/image24.svg" Type="http://schemas.openxmlformats.org/officeDocument/2006/relationships/image"/><Relationship Id="rId8" Target="../media/image4.png" Type="http://schemas.openxmlformats.org/officeDocument/2006/relationships/image"/><Relationship Id="rId9" Target="../media/image5.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png" Type="http://schemas.openxmlformats.org/officeDocument/2006/relationships/image"/><Relationship Id="rId11" Target="../media/image9.svg" Type="http://schemas.openxmlformats.org/officeDocument/2006/relationships/image"/><Relationship Id="rId2" Target="../media/image2.png" Type="http://schemas.openxmlformats.org/officeDocument/2006/relationships/image"/><Relationship Id="rId3" Target="../media/image3.svg" Type="http://schemas.openxmlformats.org/officeDocument/2006/relationships/image"/><Relationship Id="rId4" Target="../media/image29.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30.png" Type="http://schemas.openxmlformats.org/officeDocument/2006/relationships/image"/><Relationship Id="rId8" Target="../media/image6.png" Type="http://schemas.openxmlformats.org/officeDocument/2006/relationships/image"/><Relationship Id="rId9" Target="../media/image7.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png" Type="http://schemas.openxmlformats.org/officeDocument/2006/relationships/image"/><Relationship Id="rId11" Target="../media/image9.svg" Type="http://schemas.openxmlformats.org/officeDocument/2006/relationships/image"/><Relationship Id="rId2" Target="../media/image2.png" Type="http://schemas.openxmlformats.org/officeDocument/2006/relationships/image"/><Relationship Id="rId3" Target="../media/image3.svg" Type="http://schemas.openxmlformats.org/officeDocument/2006/relationships/image"/><Relationship Id="rId4" Target="../media/image31.png" Type="http://schemas.openxmlformats.org/officeDocument/2006/relationships/image"/><Relationship Id="rId5" Target="../media/image32.pn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 Id="rId8" Target="../media/image6.png" Type="http://schemas.openxmlformats.org/officeDocument/2006/relationships/image"/><Relationship Id="rId9" Target="../media/image7.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png" Type="http://schemas.openxmlformats.org/officeDocument/2006/relationships/image"/><Relationship Id="rId11" Target="../media/image9.svg" Type="http://schemas.openxmlformats.org/officeDocument/2006/relationships/image"/><Relationship Id="rId2" Target="../media/image2.png" Type="http://schemas.openxmlformats.org/officeDocument/2006/relationships/image"/><Relationship Id="rId3" Target="../media/image3.svg" Type="http://schemas.openxmlformats.org/officeDocument/2006/relationships/image"/><Relationship Id="rId4" Target="../media/image33.png" Type="http://schemas.openxmlformats.org/officeDocument/2006/relationships/image"/><Relationship Id="rId5" Target="../media/image34.pn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6.png" Type="http://schemas.openxmlformats.org/officeDocument/2006/relationships/image"/><Relationship Id="rId9" Target="../media/image7.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svg" Type="http://schemas.openxmlformats.org/officeDocument/2006/relationships/image"/><Relationship Id="rId11" Target="../media/image8.png" Type="http://schemas.openxmlformats.org/officeDocument/2006/relationships/image"/><Relationship Id="rId12" Target="../media/image9.svg" Type="http://schemas.openxmlformats.org/officeDocument/2006/relationships/image"/><Relationship Id="rId2" Target="../media/image2.png" Type="http://schemas.openxmlformats.org/officeDocument/2006/relationships/image"/><Relationship Id="rId3" Target="../media/image3.svg" Type="http://schemas.openxmlformats.org/officeDocument/2006/relationships/image"/><Relationship Id="rId4" Target="../media/image35.png" Type="http://schemas.openxmlformats.org/officeDocument/2006/relationships/image"/><Relationship Id="rId5" Target="../media/image36.pn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 Id="rId8" Target="../media/image37.png" Type="http://schemas.openxmlformats.org/officeDocument/2006/relationships/image"/><Relationship Id="rId9" Target="../media/image6.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2" Target="../media/image2.png" Type="http://schemas.openxmlformats.org/officeDocument/2006/relationships/image"/><Relationship Id="rId3" Target="../media/image3.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38.pn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FBEF"/>
        </a:solidFill>
      </p:bgPr>
    </p:bg>
    <p:spTree>
      <p:nvGrpSpPr>
        <p:cNvPr id="1" name=""/>
        <p:cNvGrpSpPr/>
        <p:nvPr/>
      </p:nvGrpSpPr>
      <p:grpSpPr>
        <a:xfrm>
          <a:off x="0" y="0"/>
          <a:ext cx="0" cy="0"/>
          <a:chOff x="0" y="0"/>
          <a:chExt cx="0" cy="0"/>
        </a:xfrm>
      </p:grpSpPr>
      <p:sp>
        <p:nvSpPr>
          <p:cNvPr name="AutoShape 2" id="2"/>
          <p:cNvSpPr/>
          <p:nvPr/>
        </p:nvSpPr>
        <p:spPr>
          <a:xfrm flipV="true">
            <a:off x="1028700" y="1478239"/>
            <a:ext cx="0" cy="14691732"/>
          </a:xfrm>
          <a:prstGeom prst="line">
            <a:avLst/>
          </a:prstGeom>
          <a:ln cap="flat" w="9525">
            <a:solidFill>
              <a:srgbClr val="6AC1FF"/>
            </a:solidFill>
            <a:prstDash val="solid"/>
            <a:headEnd type="none" len="sm" w="sm"/>
            <a:tailEnd type="none" len="sm" w="sm"/>
          </a:ln>
        </p:spPr>
      </p:sp>
      <p:grpSp>
        <p:nvGrpSpPr>
          <p:cNvPr name="Group 3" id="3"/>
          <p:cNvGrpSpPr/>
          <p:nvPr/>
        </p:nvGrpSpPr>
        <p:grpSpPr>
          <a:xfrm rot="0">
            <a:off x="894485" y="1793562"/>
            <a:ext cx="268431" cy="268431"/>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73D8"/>
            </a:solidFill>
          </p:spPr>
        </p:sp>
        <p:sp>
          <p:nvSpPr>
            <p:cNvPr name="TextBox 5" id="5"/>
            <p:cNvSpPr txBox="true"/>
            <p:nvPr/>
          </p:nvSpPr>
          <p:spPr>
            <a:xfrm>
              <a:off x="76200" y="28575"/>
              <a:ext cx="660400" cy="708025"/>
            </a:xfrm>
            <a:prstGeom prst="rect">
              <a:avLst/>
            </a:prstGeom>
          </p:spPr>
          <p:txBody>
            <a:bodyPr anchor="ctr" rtlCol="false" tIns="50800" lIns="50800" bIns="50800" rIns="50800"/>
            <a:lstStyle/>
            <a:p>
              <a:pPr algn="ctr" marL="0" indent="0" lvl="0">
                <a:lnSpc>
                  <a:spcPts val="2800"/>
                </a:lnSpc>
              </a:pPr>
            </a:p>
          </p:txBody>
        </p:sp>
      </p:grpSp>
      <p:sp>
        <p:nvSpPr>
          <p:cNvPr name="Freeform 6" id="6"/>
          <p:cNvSpPr/>
          <p:nvPr/>
        </p:nvSpPr>
        <p:spPr>
          <a:xfrm flipH="false" flipV="false" rot="0">
            <a:off x="13492732" y="59197"/>
            <a:ext cx="4257412" cy="9594169"/>
          </a:xfrm>
          <a:custGeom>
            <a:avLst/>
            <a:gdLst/>
            <a:ahLst/>
            <a:cxnLst/>
            <a:rect r="r" b="b" t="t" l="l"/>
            <a:pathLst>
              <a:path h="9594169" w="4257412">
                <a:moveTo>
                  <a:pt x="0" y="0"/>
                </a:moveTo>
                <a:lnTo>
                  <a:pt x="4257412" y="0"/>
                </a:lnTo>
                <a:lnTo>
                  <a:pt x="4257412" y="9594169"/>
                </a:lnTo>
                <a:lnTo>
                  <a:pt x="0" y="9594169"/>
                </a:lnTo>
                <a:lnTo>
                  <a:pt x="0" y="0"/>
                </a:lnTo>
                <a:close/>
              </a:path>
            </a:pathLst>
          </a:custGeom>
          <a:blipFill>
            <a:blip r:embed="rId2"/>
            <a:stretch>
              <a:fillRect l="0" t="0" r="0" b="0"/>
            </a:stretch>
          </a:blipFill>
        </p:spPr>
      </p:sp>
      <p:sp>
        <p:nvSpPr>
          <p:cNvPr name="TextBox 7" id="7"/>
          <p:cNvSpPr txBox="true"/>
          <p:nvPr/>
        </p:nvSpPr>
        <p:spPr>
          <a:xfrm rot="0">
            <a:off x="1861467" y="3742633"/>
            <a:ext cx="6764504" cy="915670"/>
          </a:xfrm>
          <a:prstGeom prst="rect">
            <a:avLst/>
          </a:prstGeom>
        </p:spPr>
        <p:txBody>
          <a:bodyPr anchor="t" rtlCol="false" tIns="0" lIns="0" bIns="0" rIns="0">
            <a:spAutoFit/>
          </a:bodyPr>
          <a:lstStyle/>
          <a:p>
            <a:pPr algn="l" marL="0" indent="0" lvl="0">
              <a:lnSpc>
                <a:spcPts val="6800"/>
              </a:lnSpc>
            </a:pPr>
            <a:r>
              <a:rPr lang="en-US" b="true" sz="6800">
                <a:solidFill>
                  <a:srgbClr val="000000"/>
                </a:solidFill>
                <a:latin typeface="Canva Sans Bold"/>
                <a:ea typeface="Canva Sans Bold"/>
                <a:cs typeface="Canva Sans Bold"/>
                <a:sym typeface="Canva Sans Bold"/>
              </a:rPr>
              <a:t>Spice Garden</a:t>
            </a:r>
          </a:p>
        </p:txBody>
      </p:sp>
      <p:sp>
        <p:nvSpPr>
          <p:cNvPr name="Freeform 8" id="8"/>
          <p:cNvSpPr/>
          <p:nvPr/>
        </p:nvSpPr>
        <p:spPr>
          <a:xfrm flipH="false" flipV="false" rot="0">
            <a:off x="7787257" y="-2136624"/>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1177814" y="6719472"/>
            <a:ext cx="1973419" cy="1973419"/>
          </a:xfrm>
          <a:custGeom>
            <a:avLst/>
            <a:gdLst/>
            <a:ahLst/>
            <a:cxnLst/>
            <a:rect r="r" b="b" t="t" l="l"/>
            <a:pathLst>
              <a:path h="1973419" w="1973419">
                <a:moveTo>
                  <a:pt x="0" y="0"/>
                </a:moveTo>
                <a:lnTo>
                  <a:pt x="1973419" y="0"/>
                </a:lnTo>
                <a:lnTo>
                  <a:pt x="1973419" y="1973419"/>
                </a:lnTo>
                <a:lnTo>
                  <a:pt x="0" y="197341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8275141" y="4547737"/>
            <a:ext cx="1230897" cy="967816"/>
          </a:xfrm>
          <a:custGeom>
            <a:avLst/>
            <a:gdLst/>
            <a:ahLst/>
            <a:cxnLst/>
            <a:rect r="r" b="b" t="t" l="l"/>
            <a:pathLst>
              <a:path h="967816" w="1230897">
                <a:moveTo>
                  <a:pt x="0" y="0"/>
                </a:moveTo>
                <a:lnTo>
                  <a:pt x="1230898" y="0"/>
                </a:lnTo>
                <a:lnTo>
                  <a:pt x="1230898" y="967816"/>
                </a:lnTo>
                <a:lnTo>
                  <a:pt x="0" y="967816"/>
                </a:lnTo>
                <a:lnTo>
                  <a:pt x="0" y="0"/>
                </a:lnTo>
                <a:close/>
              </a:path>
            </a:pathLst>
          </a:custGeom>
          <a:blipFill>
            <a:blip r:embed="rId5">
              <a:extLst>
                <a:ext uri="{96DAC541-7B7A-43D3-8B79-37D633B846F1}">
                  <asvg:svgBlip xmlns:asvg="http://schemas.microsoft.com/office/drawing/2016/SVG/main" r:embed="rId6"/>
                </a:ext>
              </a:extLst>
            </a:blip>
            <a:stretch>
              <a:fillRect l="0" t="0" r="-35952" b="-47129"/>
            </a:stretch>
          </a:blipFill>
        </p:spPr>
      </p:sp>
      <p:sp>
        <p:nvSpPr>
          <p:cNvPr name="Freeform 11" id="11"/>
          <p:cNvSpPr/>
          <p:nvPr/>
        </p:nvSpPr>
        <p:spPr>
          <a:xfrm flipH="false" flipV="false" rot="0">
            <a:off x="2851003" y="1536181"/>
            <a:ext cx="561013" cy="582184"/>
          </a:xfrm>
          <a:custGeom>
            <a:avLst/>
            <a:gdLst/>
            <a:ahLst/>
            <a:cxnLst/>
            <a:rect r="r" b="b" t="t" l="l"/>
            <a:pathLst>
              <a:path h="582184" w="561013">
                <a:moveTo>
                  <a:pt x="0" y="0"/>
                </a:moveTo>
                <a:lnTo>
                  <a:pt x="561013" y="0"/>
                </a:lnTo>
                <a:lnTo>
                  <a:pt x="561013" y="582184"/>
                </a:lnTo>
                <a:lnTo>
                  <a:pt x="0" y="58218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2" id="12"/>
          <p:cNvSpPr/>
          <p:nvPr/>
        </p:nvSpPr>
        <p:spPr>
          <a:xfrm flipH="false" flipV="false" rot="-6004461">
            <a:off x="9391280" y="7746821"/>
            <a:ext cx="633148" cy="657041"/>
          </a:xfrm>
          <a:custGeom>
            <a:avLst/>
            <a:gdLst/>
            <a:ahLst/>
            <a:cxnLst/>
            <a:rect r="r" b="b" t="t" l="l"/>
            <a:pathLst>
              <a:path h="657041" w="633148">
                <a:moveTo>
                  <a:pt x="0" y="0"/>
                </a:moveTo>
                <a:lnTo>
                  <a:pt x="633148" y="0"/>
                </a:lnTo>
                <a:lnTo>
                  <a:pt x="633148" y="657041"/>
                </a:lnTo>
                <a:lnTo>
                  <a:pt x="0" y="65704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3" id="13"/>
          <p:cNvSpPr txBox="true"/>
          <p:nvPr/>
        </p:nvSpPr>
        <p:spPr>
          <a:xfrm rot="0">
            <a:off x="1861467" y="5596592"/>
            <a:ext cx="6578722" cy="1215150"/>
          </a:xfrm>
          <a:prstGeom prst="rect">
            <a:avLst/>
          </a:prstGeom>
        </p:spPr>
        <p:txBody>
          <a:bodyPr anchor="t" rtlCol="false" tIns="0" lIns="0" bIns="0" rIns="0">
            <a:spAutoFit/>
          </a:bodyPr>
          <a:lstStyle/>
          <a:p>
            <a:pPr algn="l" marL="0" indent="0" lvl="0">
              <a:lnSpc>
                <a:spcPts val="4948"/>
              </a:lnSpc>
            </a:pPr>
            <a:r>
              <a:rPr lang="en-US" sz="3534">
                <a:solidFill>
                  <a:srgbClr val="000000"/>
                </a:solidFill>
                <a:latin typeface="Open Sauce"/>
                <a:ea typeface="Open Sauce"/>
                <a:cs typeface="Open Sauce"/>
                <a:sym typeface="Open Sauce"/>
              </a:rPr>
              <a:t>Understanding the customer before promoting the brand.</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FFBEF"/>
        </a:solidFill>
      </p:bgPr>
    </p:bg>
    <p:spTree>
      <p:nvGrpSpPr>
        <p:cNvPr id="1" name=""/>
        <p:cNvGrpSpPr/>
        <p:nvPr/>
      </p:nvGrpSpPr>
      <p:grpSpPr>
        <a:xfrm>
          <a:off x="0" y="0"/>
          <a:ext cx="0" cy="0"/>
          <a:chOff x="0" y="0"/>
          <a:chExt cx="0" cy="0"/>
        </a:xfrm>
      </p:grpSpPr>
      <p:sp>
        <p:nvSpPr>
          <p:cNvPr name="Freeform 2" id="2"/>
          <p:cNvSpPr/>
          <p:nvPr/>
        </p:nvSpPr>
        <p:spPr>
          <a:xfrm flipH="false" flipV="false" rot="0">
            <a:off x="-1282425" y="-1167330"/>
            <a:ext cx="3709729" cy="3709729"/>
          </a:xfrm>
          <a:custGeom>
            <a:avLst/>
            <a:gdLst/>
            <a:ahLst/>
            <a:cxnLst/>
            <a:rect r="r" b="b" t="t" l="l"/>
            <a:pathLst>
              <a:path h="3709729" w="3709729">
                <a:moveTo>
                  <a:pt x="0" y="0"/>
                </a:moveTo>
                <a:lnTo>
                  <a:pt x="3709729" y="0"/>
                </a:lnTo>
                <a:lnTo>
                  <a:pt x="3709729" y="3709728"/>
                </a:lnTo>
                <a:lnTo>
                  <a:pt x="0" y="37097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313084" y="1444276"/>
            <a:ext cx="12206441" cy="3107046"/>
            <a:chOff x="0" y="0"/>
            <a:chExt cx="2665878" cy="678577"/>
          </a:xfrm>
        </p:grpSpPr>
        <p:sp>
          <p:nvSpPr>
            <p:cNvPr name="Freeform 4" id="4"/>
            <p:cNvSpPr/>
            <p:nvPr/>
          </p:nvSpPr>
          <p:spPr>
            <a:xfrm flipH="false" flipV="false" rot="0">
              <a:off x="0" y="0"/>
              <a:ext cx="2665878" cy="678577"/>
            </a:xfrm>
            <a:custGeom>
              <a:avLst/>
              <a:gdLst/>
              <a:ahLst/>
              <a:cxnLst/>
              <a:rect r="r" b="b" t="t" l="l"/>
              <a:pathLst>
                <a:path h="678577" w="2665878">
                  <a:moveTo>
                    <a:pt x="28541" y="0"/>
                  </a:moveTo>
                  <a:lnTo>
                    <a:pt x="2637337" y="0"/>
                  </a:lnTo>
                  <a:cubicBezTo>
                    <a:pt x="2644906" y="0"/>
                    <a:pt x="2652166" y="3007"/>
                    <a:pt x="2657518" y="8360"/>
                  </a:cubicBezTo>
                  <a:cubicBezTo>
                    <a:pt x="2662871" y="13712"/>
                    <a:pt x="2665878" y="20972"/>
                    <a:pt x="2665878" y="28541"/>
                  </a:cubicBezTo>
                  <a:lnTo>
                    <a:pt x="2665878" y="650035"/>
                  </a:lnTo>
                  <a:cubicBezTo>
                    <a:pt x="2665878" y="657605"/>
                    <a:pt x="2662871" y="664865"/>
                    <a:pt x="2657518" y="670217"/>
                  </a:cubicBezTo>
                  <a:cubicBezTo>
                    <a:pt x="2652166" y="675570"/>
                    <a:pt x="2644906" y="678577"/>
                    <a:pt x="2637337" y="678577"/>
                  </a:cubicBezTo>
                  <a:lnTo>
                    <a:pt x="28541" y="678577"/>
                  </a:lnTo>
                  <a:cubicBezTo>
                    <a:pt x="20972" y="678577"/>
                    <a:pt x="13712" y="675570"/>
                    <a:pt x="8360" y="670217"/>
                  </a:cubicBezTo>
                  <a:cubicBezTo>
                    <a:pt x="3007" y="664865"/>
                    <a:pt x="0" y="657605"/>
                    <a:pt x="0" y="650035"/>
                  </a:cubicBezTo>
                  <a:lnTo>
                    <a:pt x="0" y="28541"/>
                  </a:lnTo>
                  <a:cubicBezTo>
                    <a:pt x="0" y="20972"/>
                    <a:pt x="3007" y="13712"/>
                    <a:pt x="8360" y="8360"/>
                  </a:cubicBezTo>
                  <a:cubicBezTo>
                    <a:pt x="13712" y="3007"/>
                    <a:pt x="20972" y="0"/>
                    <a:pt x="28541" y="0"/>
                  </a:cubicBezTo>
                  <a:close/>
                </a:path>
              </a:pathLst>
            </a:custGeom>
            <a:blipFill>
              <a:blip r:embed="rId4"/>
              <a:stretch>
                <a:fillRect l="0" t="-826" r="0" b="-826"/>
              </a:stretch>
            </a:blipFill>
          </p:spPr>
        </p:sp>
      </p:grpSp>
      <p:grpSp>
        <p:nvGrpSpPr>
          <p:cNvPr name="Group 5" id="5"/>
          <p:cNvGrpSpPr/>
          <p:nvPr/>
        </p:nvGrpSpPr>
        <p:grpSpPr>
          <a:xfrm rot="0">
            <a:off x="13916268" y="1444276"/>
            <a:ext cx="3058648" cy="3107046"/>
            <a:chOff x="0" y="0"/>
            <a:chExt cx="668006" cy="678577"/>
          </a:xfrm>
        </p:grpSpPr>
        <p:sp>
          <p:nvSpPr>
            <p:cNvPr name="Freeform 6" id="6"/>
            <p:cNvSpPr/>
            <p:nvPr/>
          </p:nvSpPr>
          <p:spPr>
            <a:xfrm flipH="false" flipV="false" rot="0">
              <a:off x="0" y="0"/>
              <a:ext cx="668006" cy="678577"/>
            </a:xfrm>
            <a:custGeom>
              <a:avLst/>
              <a:gdLst/>
              <a:ahLst/>
              <a:cxnLst/>
              <a:rect r="r" b="b" t="t" l="l"/>
              <a:pathLst>
                <a:path h="678577" w="668006">
                  <a:moveTo>
                    <a:pt x="113902" y="0"/>
                  </a:moveTo>
                  <a:lnTo>
                    <a:pt x="554104" y="0"/>
                  </a:lnTo>
                  <a:cubicBezTo>
                    <a:pt x="617011" y="0"/>
                    <a:pt x="668006" y="50996"/>
                    <a:pt x="668006" y="113902"/>
                  </a:cubicBezTo>
                  <a:lnTo>
                    <a:pt x="668006" y="564674"/>
                  </a:lnTo>
                  <a:cubicBezTo>
                    <a:pt x="668006" y="627581"/>
                    <a:pt x="617011" y="678577"/>
                    <a:pt x="554104" y="678577"/>
                  </a:cubicBezTo>
                  <a:lnTo>
                    <a:pt x="113902" y="678577"/>
                  </a:lnTo>
                  <a:cubicBezTo>
                    <a:pt x="50996" y="678577"/>
                    <a:pt x="0" y="627581"/>
                    <a:pt x="0" y="564674"/>
                  </a:cubicBezTo>
                  <a:lnTo>
                    <a:pt x="0" y="113902"/>
                  </a:lnTo>
                  <a:cubicBezTo>
                    <a:pt x="0" y="50996"/>
                    <a:pt x="50996" y="0"/>
                    <a:pt x="113902" y="0"/>
                  </a:cubicBezTo>
                  <a:close/>
                </a:path>
              </a:pathLst>
            </a:custGeom>
            <a:solidFill>
              <a:srgbClr val="FFD6F3"/>
            </a:solidFill>
          </p:spPr>
        </p:sp>
      </p:grpSp>
      <p:grpSp>
        <p:nvGrpSpPr>
          <p:cNvPr name="Group 7" id="7"/>
          <p:cNvGrpSpPr/>
          <p:nvPr/>
        </p:nvGrpSpPr>
        <p:grpSpPr>
          <a:xfrm rot="0">
            <a:off x="1924088" y="3577720"/>
            <a:ext cx="3449242" cy="1947205"/>
            <a:chOff x="0" y="0"/>
            <a:chExt cx="908442" cy="512844"/>
          </a:xfrm>
        </p:grpSpPr>
        <p:sp>
          <p:nvSpPr>
            <p:cNvPr name="Freeform 8" id="8"/>
            <p:cNvSpPr/>
            <p:nvPr/>
          </p:nvSpPr>
          <p:spPr>
            <a:xfrm flipH="false" flipV="false" rot="0">
              <a:off x="0" y="0"/>
              <a:ext cx="908442" cy="512844"/>
            </a:xfrm>
            <a:custGeom>
              <a:avLst/>
              <a:gdLst/>
              <a:ahLst/>
              <a:cxnLst/>
              <a:rect r="r" b="b" t="t" l="l"/>
              <a:pathLst>
                <a:path h="512844" w="908442">
                  <a:moveTo>
                    <a:pt x="78558" y="0"/>
                  </a:moveTo>
                  <a:lnTo>
                    <a:pt x="829884" y="0"/>
                  </a:lnTo>
                  <a:cubicBezTo>
                    <a:pt x="850719" y="0"/>
                    <a:pt x="870701" y="8277"/>
                    <a:pt x="885433" y="23009"/>
                  </a:cubicBezTo>
                  <a:cubicBezTo>
                    <a:pt x="900166" y="37742"/>
                    <a:pt x="908442" y="57723"/>
                    <a:pt x="908442" y="78558"/>
                  </a:cubicBezTo>
                  <a:lnTo>
                    <a:pt x="908442" y="434286"/>
                  </a:lnTo>
                  <a:cubicBezTo>
                    <a:pt x="908442" y="477672"/>
                    <a:pt x="873271" y="512844"/>
                    <a:pt x="829884" y="512844"/>
                  </a:cubicBezTo>
                  <a:lnTo>
                    <a:pt x="78558" y="512844"/>
                  </a:lnTo>
                  <a:cubicBezTo>
                    <a:pt x="57723" y="512844"/>
                    <a:pt x="37742" y="504567"/>
                    <a:pt x="23009" y="489835"/>
                  </a:cubicBezTo>
                  <a:cubicBezTo>
                    <a:pt x="8277" y="475102"/>
                    <a:pt x="0" y="455121"/>
                    <a:pt x="0" y="434286"/>
                  </a:cubicBezTo>
                  <a:lnTo>
                    <a:pt x="0" y="78558"/>
                  </a:lnTo>
                  <a:cubicBezTo>
                    <a:pt x="0" y="57723"/>
                    <a:pt x="8277" y="37742"/>
                    <a:pt x="23009" y="23009"/>
                  </a:cubicBezTo>
                  <a:cubicBezTo>
                    <a:pt x="37742" y="8277"/>
                    <a:pt x="57723" y="0"/>
                    <a:pt x="78558" y="0"/>
                  </a:cubicBezTo>
                  <a:close/>
                </a:path>
              </a:pathLst>
            </a:custGeom>
            <a:solidFill>
              <a:srgbClr val="FF73D8"/>
            </a:solidFill>
          </p:spPr>
        </p:sp>
        <p:sp>
          <p:nvSpPr>
            <p:cNvPr name="TextBox 9" id="9"/>
            <p:cNvSpPr txBox="true"/>
            <p:nvPr/>
          </p:nvSpPr>
          <p:spPr>
            <a:xfrm>
              <a:off x="0" y="-47625"/>
              <a:ext cx="908442" cy="560469"/>
            </a:xfrm>
            <a:prstGeom prst="rect">
              <a:avLst/>
            </a:prstGeom>
          </p:spPr>
          <p:txBody>
            <a:bodyPr anchor="ctr" rtlCol="false" tIns="50800" lIns="50800" bIns="50800" rIns="50800"/>
            <a:lstStyle/>
            <a:p>
              <a:pPr algn="ctr" marL="0" indent="0" lvl="0">
                <a:lnSpc>
                  <a:spcPts val="3359"/>
                </a:lnSpc>
              </a:pPr>
            </a:p>
          </p:txBody>
        </p:sp>
      </p:grpSp>
      <p:grpSp>
        <p:nvGrpSpPr>
          <p:cNvPr name="Group 10" id="10"/>
          <p:cNvGrpSpPr/>
          <p:nvPr/>
        </p:nvGrpSpPr>
        <p:grpSpPr>
          <a:xfrm rot="0">
            <a:off x="2427304" y="4198550"/>
            <a:ext cx="705546" cy="705546"/>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2" id="12"/>
            <p:cNvSpPr txBox="true"/>
            <p:nvPr/>
          </p:nvSpPr>
          <p:spPr>
            <a:xfrm>
              <a:off x="76200" y="28575"/>
              <a:ext cx="660400" cy="708025"/>
            </a:xfrm>
            <a:prstGeom prst="rect">
              <a:avLst/>
            </a:prstGeom>
          </p:spPr>
          <p:txBody>
            <a:bodyPr anchor="ctr" rtlCol="false" tIns="50800" lIns="50800" bIns="50800" rIns="50800"/>
            <a:lstStyle/>
            <a:p>
              <a:pPr algn="ctr" marL="0" indent="0" lvl="0">
                <a:lnSpc>
                  <a:spcPts val="3359"/>
                </a:lnSpc>
              </a:pPr>
            </a:p>
          </p:txBody>
        </p:sp>
      </p:grpSp>
      <p:sp>
        <p:nvSpPr>
          <p:cNvPr name="Freeform 13" id="13"/>
          <p:cNvSpPr/>
          <p:nvPr/>
        </p:nvSpPr>
        <p:spPr>
          <a:xfrm flipH="false" flipV="false" rot="0">
            <a:off x="2573380" y="4307890"/>
            <a:ext cx="413393" cy="486865"/>
          </a:xfrm>
          <a:custGeom>
            <a:avLst/>
            <a:gdLst/>
            <a:ahLst/>
            <a:cxnLst/>
            <a:rect r="r" b="b" t="t" l="l"/>
            <a:pathLst>
              <a:path h="486865" w="413393">
                <a:moveTo>
                  <a:pt x="0" y="0"/>
                </a:moveTo>
                <a:lnTo>
                  <a:pt x="413393" y="0"/>
                </a:lnTo>
                <a:lnTo>
                  <a:pt x="413393" y="486865"/>
                </a:lnTo>
                <a:lnTo>
                  <a:pt x="0" y="48686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4" id="14"/>
          <p:cNvSpPr/>
          <p:nvPr/>
        </p:nvSpPr>
        <p:spPr>
          <a:xfrm flipH="false" flipV="false" rot="0">
            <a:off x="16538607" y="6628075"/>
            <a:ext cx="3498785" cy="3498785"/>
          </a:xfrm>
          <a:custGeom>
            <a:avLst/>
            <a:gdLst/>
            <a:ahLst/>
            <a:cxnLst/>
            <a:rect r="r" b="b" t="t" l="l"/>
            <a:pathLst>
              <a:path h="3498785" w="3498785">
                <a:moveTo>
                  <a:pt x="0" y="0"/>
                </a:moveTo>
                <a:lnTo>
                  <a:pt x="3498786" y="0"/>
                </a:lnTo>
                <a:lnTo>
                  <a:pt x="3498786" y="3498785"/>
                </a:lnTo>
                <a:lnTo>
                  <a:pt x="0" y="349878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9940018" y="5151397"/>
            <a:ext cx="1230897" cy="967816"/>
          </a:xfrm>
          <a:custGeom>
            <a:avLst/>
            <a:gdLst/>
            <a:ahLst/>
            <a:cxnLst/>
            <a:rect r="r" b="b" t="t" l="l"/>
            <a:pathLst>
              <a:path h="967816" w="1230897">
                <a:moveTo>
                  <a:pt x="0" y="0"/>
                </a:moveTo>
                <a:lnTo>
                  <a:pt x="1230897" y="0"/>
                </a:lnTo>
                <a:lnTo>
                  <a:pt x="1230897" y="967816"/>
                </a:lnTo>
                <a:lnTo>
                  <a:pt x="0" y="967816"/>
                </a:lnTo>
                <a:lnTo>
                  <a:pt x="0" y="0"/>
                </a:lnTo>
                <a:close/>
              </a:path>
            </a:pathLst>
          </a:custGeom>
          <a:blipFill>
            <a:blip r:embed="rId7">
              <a:extLst>
                <a:ext uri="{96DAC541-7B7A-43D3-8B79-37D633B846F1}">
                  <asvg:svgBlip xmlns:asvg="http://schemas.microsoft.com/office/drawing/2016/SVG/main" r:embed="rId8"/>
                </a:ext>
              </a:extLst>
            </a:blip>
            <a:stretch>
              <a:fillRect l="0" t="0" r="-35952" b="-47129"/>
            </a:stretch>
          </a:blipFill>
        </p:spPr>
      </p:sp>
      <p:sp>
        <p:nvSpPr>
          <p:cNvPr name="TextBox 16" id="16"/>
          <p:cNvSpPr txBox="true"/>
          <p:nvPr/>
        </p:nvSpPr>
        <p:spPr>
          <a:xfrm rot="0">
            <a:off x="1924088" y="6252563"/>
            <a:ext cx="5628681" cy="2610999"/>
          </a:xfrm>
          <a:prstGeom prst="rect">
            <a:avLst/>
          </a:prstGeom>
        </p:spPr>
        <p:txBody>
          <a:bodyPr anchor="t" rtlCol="false" tIns="0" lIns="0" bIns="0" rIns="0">
            <a:spAutoFit/>
          </a:bodyPr>
          <a:lstStyle/>
          <a:p>
            <a:pPr algn="l" marL="0" indent="0" lvl="0">
              <a:lnSpc>
                <a:spcPts val="6795"/>
              </a:lnSpc>
            </a:pPr>
            <a:r>
              <a:rPr lang="en-US" b="true" sz="6795">
                <a:solidFill>
                  <a:srgbClr val="000000"/>
                </a:solidFill>
                <a:latin typeface="Canva Sans Bold"/>
                <a:ea typeface="Canva Sans Bold"/>
                <a:cs typeface="Canva Sans Bold"/>
                <a:sym typeface="Canva Sans Bold"/>
              </a:rPr>
              <a:t>Meet</a:t>
            </a:r>
          </a:p>
          <a:p>
            <a:pPr algn="l" marL="0" indent="0" lvl="0">
              <a:lnSpc>
                <a:spcPts val="6795"/>
              </a:lnSpc>
            </a:pPr>
            <a:r>
              <a:rPr lang="en-US" b="true" sz="6795">
                <a:solidFill>
                  <a:srgbClr val="000000"/>
                </a:solidFill>
                <a:latin typeface="Canva Sans Bold"/>
                <a:ea typeface="Canva Sans Bold"/>
                <a:cs typeface="Canva Sans Bold"/>
                <a:sym typeface="Canva Sans Bold"/>
              </a:rPr>
              <a:t>Spice</a:t>
            </a:r>
          </a:p>
          <a:p>
            <a:pPr algn="l" marL="0" indent="0" lvl="0">
              <a:lnSpc>
                <a:spcPts val="6795"/>
              </a:lnSpc>
            </a:pPr>
            <a:r>
              <a:rPr lang="en-US" b="true" sz="6795">
                <a:solidFill>
                  <a:srgbClr val="000000"/>
                </a:solidFill>
                <a:latin typeface="Canva Sans Bold"/>
                <a:ea typeface="Canva Sans Bold"/>
                <a:cs typeface="Canva Sans Bold"/>
                <a:sym typeface="Canva Sans Bold"/>
              </a:rPr>
              <a:t>Garden</a:t>
            </a:r>
          </a:p>
        </p:txBody>
      </p:sp>
      <p:sp>
        <p:nvSpPr>
          <p:cNvPr name="Freeform 17" id="17"/>
          <p:cNvSpPr/>
          <p:nvPr/>
        </p:nvSpPr>
        <p:spPr>
          <a:xfrm flipH="false" flipV="false" rot="0">
            <a:off x="16817456" y="493089"/>
            <a:ext cx="883689" cy="917036"/>
          </a:xfrm>
          <a:custGeom>
            <a:avLst/>
            <a:gdLst/>
            <a:ahLst/>
            <a:cxnLst/>
            <a:rect r="r" b="b" t="t" l="l"/>
            <a:pathLst>
              <a:path h="917036" w="883689">
                <a:moveTo>
                  <a:pt x="0" y="0"/>
                </a:moveTo>
                <a:lnTo>
                  <a:pt x="883688" y="0"/>
                </a:lnTo>
                <a:lnTo>
                  <a:pt x="883688" y="917036"/>
                </a:lnTo>
                <a:lnTo>
                  <a:pt x="0" y="91703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8" id="18"/>
          <p:cNvSpPr/>
          <p:nvPr/>
        </p:nvSpPr>
        <p:spPr>
          <a:xfrm flipH="false" flipV="false" rot="0">
            <a:off x="6984038" y="6403965"/>
            <a:ext cx="712773" cy="739670"/>
          </a:xfrm>
          <a:custGeom>
            <a:avLst/>
            <a:gdLst/>
            <a:ahLst/>
            <a:cxnLst/>
            <a:rect r="r" b="b" t="t" l="l"/>
            <a:pathLst>
              <a:path h="739670" w="712773">
                <a:moveTo>
                  <a:pt x="0" y="0"/>
                </a:moveTo>
                <a:lnTo>
                  <a:pt x="712773" y="0"/>
                </a:lnTo>
                <a:lnTo>
                  <a:pt x="712773" y="739670"/>
                </a:lnTo>
                <a:lnTo>
                  <a:pt x="0" y="73967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9" id="19"/>
          <p:cNvSpPr/>
          <p:nvPr/>
        </p:nvSpPr>
        <p:spPr>
          <a:xfrm flipH="false" flipV="false" rot="0">
            <a:off x="13551199" y="411900"/>
            <a:ext cx="4843182" cy="6320629"/>
          </a:xfrm>
          <a:custGeom>
            <a:avLst/>
            <a:gdLst/>
            <a:ahLst/>
            <a:cxnLst/>
            <a:rect r="r" b="b" t="t" l="l"/>
            <a:pathLst>
              <a:path h="6320629" w="4843182">
                <a:moveTo>
                  <a:pt x="0" y="0"/>
                </a:moveTo>
                <a:lnTo>
                  <a:pt x="4843183" y="0"/>
                </a:lnTo>
                <a:lnTo>
                  <a:pt x="4843183" y="6320629"/>
                </a:lnTo>
                <a:lnTo>
                  <a:pt x="0" y="6320629"/>
                </a:lnTo>
                <a:lnTo>
                  <a:pt x="0" y="0"/>
                </a:lnTo>
                <a:close/>
              </a:path>
            </a:pathLst>
          </a:custGeom>
          <a:blipFill>
            <a:blip r:embed="rId13"/>
            <a:stretch>
              <a:fillRect l="0" t="0" r="0" b="0"/>
            </a:stretch>
          </a:blipFill>
        </p:spPr>
      </p:sp>
      <p:sp>
        <p:nvSpPr>
          <p:cNvPr name="TextBox 20" id="20"/>
          <p:cNvSpPr txBox="true"/>
          <p:nvPr/>
        </p:nvSpPr>
        <p:spPr>
          <a:xfrm rot="0">
            <a:off x="8646340" y="6580450"/>
            <a:ext cx="7629944" cy="405808"/>
          </a:xfrm>
          <a:prstGeom prst="rect">
            <a:avLst/>
          </a:prstGeom>
        </p:spPr>
        <p:txBody>
          <a:bodyPr anchor="t" rtlCol="false" tIns="0" lIns="0" bIns="0" rIns="0">
            <a:spAutoFit/>
          </a:bodyPr>
          <a:lstStyle/>
          <a:p>
            <a:pPr algn="l" marL="0" indent="0" lvl="0">
              <a:lnSpc>
                <a:spcPts val="3357"/>
              </a:lnSpc>
            </a:pPr>
            <a:r>
              <a:rPr lang="en-US" b="true" sz="2398">
                <a:solidFill>
                  <a:srgbClr val="000000"/>
                </a:solidFill>
                <a:latin typeface="Open Sauce Bold"/>
                <a:ea typeface="Open Sauce Bold"/>
                <a:cs typeface="Open Sauce Bold"/>
                <a:sym typeface="Open Sauce Bold"/>
              </a:rPr>
              <a:t>Restaurant &amp; Food Service Who They Are</a:t>
            </a:r>
          </a:p>
        </p:txBody>
      </p:sp>
      <p:sp>
        <p:nvSpPr>
          <p:cNvPr name="TextBox 21" id="21"/>
          <p:cNvSpPr txBox="true"/>
          <p:nvPr/>
        </p:nvSpPr>
        <p:spPr>
          <a:xfrm rot="0">
            <a:off x="8646340" y="7329048"/>
            <a:ext cx="7087982" cy="1924899"/>
          </a:xfrm>
          <a:prstGeom prst="rect">
            <a:avLst/>
          </a:prstGeom>
        </p:spPr>
        <p:txBody>
          <a:bodyPr anchor="t" rtlCol="false" tIns="0" lIns="0" bIns="0" rIns="0">
            <a:spAutoFit/>
          </a:bodyPr>
          <a:lstStyle/>
          <a:p>
            <a:pPr algn="l" marL="0" indent="0" lvl="0">
              <a:lnSpc>
                <a:spcPts val="2578"/>
              </a:lnSpc>
            </a:pPr>
            <a:r>
              <a:rPr lang="en-US" sz="1841">
                <a:solidFill>
                  <a:srgbClr val="000000"/>
                </a:solidFill>
                <a:latin typeface="Open Sauce"/>
                <a:ea typeface="Open Sauce"/>
                <a:cs typeface="Open Sauce"/>
                <a:sym typeface="Open Sauce"/>
              </a:rPr>
              <a:t>Spice Garden is a dine in and takeaway restaurant serving flavourful, affordable meals to a broad everyday audience  students, families, and office goers. Their core goals are to attract new customers increase sales volume and build a recognisable local brand presence through both digital and on-ground marketing.</a:t>
            </a:r>
          </a:p>
        </p:txBody>
      </p:sp>
      <p:sp>
        <p:nvSpPr>
          <p:cNvPr name="TextBox 22" id="22"/>
          <p:cNvSpPr txBox="true"/>
          <p:nvPr/>
        </p:nvSpPr>
        <p:spPr>
          <a:xfrm rot="0">
            <a:off x="3484595" y="4564657"/>
            <a:ext cx="1658870" cy="531401"/>
          </a:xfrm>
          <a:prstGeom prst="rect">
            <a:avLst/>
          </a:prstGeom>
        </p:spPr>
        <p:txBody>
          <a:bodyPr anchor="t" rtlCol="false" tIns="0" lIns="0" bIns="0" rIns="0">
            <a:spAutoFit/>
          </a:bodyPr>
          <a:lstStyle/>
          <a:p>
            <a:pPr algn="l" marL="0" indent="0" lvl="0">
              <a:lnSpc>
                <a:spcPts val="2154"/>
              </a:lnSpc>
            </a:pPr>
            <a:r>
              <a:rPr lang="en-US" sz="1657">
                <a:solidFill>
                  <a:srgbClr val="FFFFFF"/>
                </a:solidFill>
                <a:latin typeface="Open Sauce"/>
                <a:ea typeface="Open Sauce"/>
                <a:cs typeface="Open Sauce"/>
                <a:sym typeface="Open Sauce"/>
              </a:rPr>
              <a:t>Core</a:t>
            </a:r>
          </a:p>
          <a:p>
            <a:pPr algn="l" marL="0" indent="0" lvl="0">
              <a:lnSpc>
                <a:spcPts val="2154"/>
              </a:lnSpc>
            </a:pPr>
            <a:r>
              <a:rPr lang="en-US" sz="1657">
                <a:solidFill>
                  <a:srgbClr val="FFFFFF"/>
                </a:solidFill>
                <a:latin typeface="Open Sauce"/>
                <a:ea typeface="Open Sauce"/>
                <a:cs typeface="Open Sauce"/>
                <a:sym typeface="Open Sauce"/>
              </a:rPr>
              <a:t>Goals</a:t>
            </a:r>
          </a:p>
        </p:txBody>
      </p:sp>
      <p:sp>
        <p:nvSpPr>
          <p:cNvPr name="TextBox 23" id="23"/>
          <p:cNvSpPr txBox="true"/>
          <p:nvPr/>
        </p:nvSpPr>
        <p:spPr>
          <a:xfrm rot="0">
            <a:off x="3484595" y="3875047"/>
            <a:ext cx="1235529" cy="622999"/>
          </a:xfrm>
          <a:prstGeom prst="rect">
            <a:avLst/>
          </a:prstGeom>
        </p:spPr>
        <p:txBody>
          <a:bodyPr anchor="t" rtlCol="false" tIns="0" lIns="0" bIns="0" rIns="0">
            <a:spAutoFit/>
          </a:bodyPr>
          <a:lstStyle/>
          <a:p>
            <a:pPr algn="l" marL="0" indent="0" lvl="0">
              <a:lnSpc>
                <a:spcPts val="5036"/>
              </a:lnSpc>
            </a:pPr>
            <a:r>
              <a:rPr lang="en-US" b="true" sz="3597">
                <a:solidFill>
                  <a:srgbClr val="FFFFFF"/>
                </a:solidFill>
                <a:latin typeface="Open Sauce Bold"/>
                <a:ea typeface="Open Sauce Bold"/>
                <a:cs typeface="Open Sauce Bold"/>
                <a:sym typeface="Open Sauce Bold"/>
              </a:rPr>
              <a:t>3</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FBEF"/>
        </a:solidFill>
      </p:bgPr>
    </p:bg>
    <p:spTree>
      <p:nvGrpSpPr>
        <p:cNvPr id="1" name=""/>
        <p:cNvGrpSpPr/>
        <p:nvPr/>
      </p:nvGrpSpPr>
      <p:grpSpPr>
        <a:xfrm>
          <a:off x="0" y="0"/>
          <a:ext cx="0" cy="0"/>
          <a:chOff x="0" y="0"/>
          <a:chExt cx="0" cy="0"/>
        </a:xfrm>
      </p:grpSpPr>
      <p:sp>
        <p:nvSpPr>
          <p:cNvPr name="Freeform 2" id="2"/>
          <p:cNvSpPr/>
          <p:nvPr/>
        </p:nvSpPr>
        <p:spPr>
          <a:xfrm flipH="false" flipV="false" rot="0">
            <a:off x="-1973945" y="3778725"/>
            <a:ext cx="3947890" cy="3947890"/>
          </a:xfrm>
          <a:custGeom>
            <a:avLst/>
            <a:gdLst/>
            <a:ahLst/>
            <a:cxnLst/>
            <a:rect r="r" b="b" t="t" l="l"/>
            <a:pathLst>
              <a:path h="3947890" w="3947890">
                <a:moveTo>
                  <a:pt x="0" y="0"/>
                </a:moveTo>
                <a:lnTo>
                  <a:pt x="3947890" y="0"/>
                </a:lnTo>
                <a:lnTo>
                  <a:pt x="3947890" y="3947890"/>
                </a:lnTo>
                <a:lnTo>
                  <a:pt x="0" y="39478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7893784" y="5401906"/>
            <a:ext cx="26913379" cy="7712788"/>
            <a:chOff x="0" y="0"/>
            <a:chExt cx="2964596" cy="849589"/>
          </a:xfrm>
        </p:grpSpPr>
        <p:sp>
          <p:nvSpPr>
            <p:cNvPr name="Freeform 4" id="4"/>
            <p:cNvSpPr/>
            <p:nvPr/>
          </p:nvSpPr>
          <p:spPr>
            <a:xfrm flipH="false" flipV="false" rot="0">
              <a:off x="0" y="0"/>
              <a:ext cx="2964596" cy="849589"/>
            </a:xfrm>
            <a:custGeom>
              <a:avLst/>
              <a:gdLst/>
              <a:ahLst/>
              <a:cxnLst/>
              <a:rect r="r" b="b" t="t" l="l"/>
              <a:pathLst>
                <a:path h="849589" w="2964596">
                  <a:moveTo>
                    <a:pt x="28766" y="0"/>
                  </a:moveTo>
                  <a:lnTo>
                    <a:pt x="2935830" y="0"/>
                  </a:lnTo>
                  <a:cubicBezTo>
                    <a:pt x="2951717" y="0"/>
                    <a:pt x="2964596" y="12879"/>
                    <a:pt x="2964596" y="28766"/>
                  </a:cubicBezTo>
                  <a:lnTo>
                    <a:pt x="2964596" y="820823"/>
                  </a:lnTo>
                  <a:cubicBezTo>
                    <a:pt x="2964596" y="836710"/>
                    <a:pt x="2951717" y="849589"/>
                    <a:pt x="2935830" y="849589"/>
                  </a:cubicBezTo>
                  <a:lnTo>
                    <a:pt x="28766" y="849589"/>
                  </a:lnTo>
                  <a:cubicBezTo>
                    <a:pt x="12879" y="849589"/>
                    <a:pt x="0" y="836710"/>
                    <a:pt x="0" y="820823"/>
                  </a:cubicBezTo>
                  <a:lnTo>
                    <a:pt x="0" y="28766"/>
                  </a:lnTo>
                  <a:cubicBezTo>
                    <a:pt x="0" y="12879"/>
                    <a:pt x="12879" y="0"/>
                    <a:pt x="28766" y="0"/>
                  </a:cubicBezTo>
                  <a:close/>
                </a:path>
              </a:pathLst>
            </a:custGeom>
            <a:blipFill>
              <a:blip r:embed="rId4"/>
              <a:stretch>
                <a:fillRect l="-1869" t="0" r="-1869" b="0"/>
              </a:stretch>
            </a:blipFill>
          </p:spPr>
        </p:sp>
      </p:grpSp>
      <p:grpSp>
        <p:nvGrpSpPr>
          <p:cNvPr name="Group 5" id="5"/>
          <p:cNvGrpSpPr/>
          <p:nvPr/>
        </p:nvGrpSpPr>
        <p:grpSpPr>
          <a:xfrm rot="0">
            <a:off x="2559132" y="7343480"/>
            <a:ext cx="3449242" cy="1947205"/>
            <a:chOff x="0" y="0"/>
            <a:chExt cx="908442" cy="512844"/>
          </a:xfrm>
        </p:grpSpPr>
        <p:sp>
          <p:nvSpPr>
            <p:cNvPr name="Freeform 6" id="6"/>
            <p:cNvSpPr/>
            <p:nvPr/>
          </p:nvSpPr>
          <p:spPr>
            <a:xfrm flipH="false" flipV="false" rot="0">
              <a:off x="0" y="0"/>
              <a:ext cx="908442" cy="512844"/>
            </a:xfrm>
            <a:custGeom>
              <a:avLst/>
              <a:gdLst/>
              <a:ahLst/>
              <a:cxnLst/>
              <a:rect r="r" b="b" t="t" l="l"/>
              <a:pathLst>
                <a:path h="512844" w="908442">
                  <a:moveTo>
                    <a:pt x="78558" y="0"/>
                  </a:moveTo>
                  <a:lnTo>
                    <a:pt x="829884" y="0"/>
                  </a:lnTo>
                  <a:cubicBezTo>
                    <a:pt x="850719" y="0"/>
                    <a:pt x="870701" y="8277"/>
                    <a:pt x="885433" y="23009"/>
                  </a:cubicBezTo>
                  <a:cubicBezTo>
                    <a:pt x="900166" y="37742"/>
                    <a:pt x="908442" y="57723"/>
                    <a:pt x="908442" y="78558"/>
                  </a:cubicBezTo>
                  <a:lnTo>
                    <a:pt x="908442" y="434286"/>
                  </a:lnTo>
                  <a:cubicBezTo>
                    <a:pt x="908442" y="477672"/>
                    <a:pt x="873271" y="512844"/>
                    <a:pt x="829884" y="512844"/>
                  </a:cubicBezTo>
                  <a:lnTo>
                    <a:pt x="78558" y="512844"/>
                  </a:lnTo>
                  <a:cubicBezTo>
                    <a:pt x="57723" y="512844"/>
                    <a:pt x="37742" y="504567"/>
                    <a:pt x="23009" y="489835"/>
                  </a:cubicBezTo>
                  <a:cubicBezTo>
                    <a:pt x="8277" y="475102"/>
                    <a:pt x="0" y="455121"/>
                    <a:pt x="0" y="434286"/>
                  </a:cubicBezTo>
                  <a:lnTo>
                    <a:pt x="0" y="78558"/>
                  </a:lnTo>
                  <a:cubicBezTo>
                    <a:pt x="0" y="57723"/>
                    <a:pt x="8277" y="37742"/>
                    <a:pt x="23009" y="23009"/>
                  </a:cubicBezTo>
                  <a:cubicBezTo>
                    <a:pt x="37742" y="8277"/>
                    <a:pt x="57723" y="0"/>
                    <a:pt x="78558" y="0"/>
                  </a:cubicBezTo>
                  <a:close/>
                </a:path>
              </a:pathLst>
            </a:custGeom>
            <a:solidFill>
              <a:srgbClr val="FFDE59"/>
            </a:solidFill>
          </p:spPr>
        </p:sp>
        <p:sp>
          <p:nvSpPr>
            <p:cNvPr name="TextBox 7" id="7"/>
            <p:cNvSpPr txBox="true"/>
            <p:nvPr/>
          </p:nvSpPr>
          <p:spPr>
            <a:xfrm>
              <a:off x="0" y="-47625"/>
              <a:ext cx="908442" cy="560469"/>
            </a:xfrm>
            <a:prstGeom prst="rect">
              <a:avLst/>
            </a:prstGeom>
          </p:spPr>
          <p:txBody>
            <a:bodyPr anchor="ctr" rtlCol="false" tIns="50800" lIns="50800" bIns="50800" rIns="50800"/>
            <a:lstStyle/>
            <a:p>
              <a:pPr algn="ctr" marL="0" indent="0" lvl="0">
                <a:lnSpc>
                  <a:spcPts val="3359"/>
                </a:lnSpc>
              </a:pPr>
            </a:p>
          </p:txBody>
        </p:sp>
      </p:grpSp>
      <p:grpSp>
        <p:nvGrpSpPr>
          <p:cNvPr name="Group 8" id="8"/>
          <p:cNvGrpSpPr/>
          <p:nvPr/>
        </p:nvGrpSpPr>
        <p:grpSpPr>
          <a:xfrm rot="0">
            <a:off x="6090347" y="7311095"/>
            <a:ext cx="3449242" cy="1947205"/>
            <a:chOff x="0" y="0"/>
            <a:chExt cx="908442" cy="512844"/>
          </a:xfrm>
        </p:grpSpPr>
        <p:sp>
          <p:nvSpPr>
            <p:cNvPr name="Freeform 9" id="9"/>
            <p:cNvSpPr/>
            <p:nvPr/>
          </p:nvSpPr>
          <p:spPr>
            <a:xfrm flipH="false" flipV="false" rot="0">
              <a:off x="0" y="0"/>
              <a:ext cx="908442" cy="512844"/>
            </a:xfrm>
            <a:custGeom>
              <a:avLst/>
              <a:gdLst/>
              <a:ahLst/>
              <a:cxnLst/>
              <a:rect r="r" b="b" t="t" l="l"/>
              <a:pathLst>
                <a:path h="512844" w="908442">
                  <a:moveTo>
                    <a:pt x="78558" y="0"/>
                  </a:moveTo>
                  <a:lnTo>
                    <a:pt x="829884" y="0"/>
                  </a:lnTo>
                  <a:cubicBezTo>
                    <a:pt x="850719" y="0"/>
                    <a:pt x="870701" y="8277"/>
                    <a:pt x="885433" y="23009"/>
                  </a:cubicBezTo>
                  <a:cubicBezTo>
                    <a:pt x="900166" y="37742"/>
                    <a:pt x="908442" y="57723"/>
                    <a:pt x="908442" y="78558"/>
                  </a:cubicBezTo>
                  <a:lnTo>
                    <a:pt x="908442" y="434286"/>
                  </a:lnTo>
                  <a:cubicBezTo>
                    <a:pt x="908442" y="477672"/>
                    <a:pt x="873271" y="512844"/>
                    <a:pt x="829884" y="512844"/>
                  </a:cubicBezTo>
                  <a:lnTo>
                    <a:pt x="78558" y="512844"/>
                  </a:lnTo>
                  <a:cubicBezTo>
                    <a:pt x="57723" y="512844"/>
                    <a:pt x="37742" y="504567"/>
                    <a:pt x="23009" y="489835"/>
                  </a:cubicBezTo>
                  <a:cubicBezTo>
                    <a:pt x="8277" y="475102"/>
                    <a:pt x="0" y="455121"/>
                    <a:pt x="0" y="434286"/>
                  </a:cubicBezTo>
                  <a:lnTo>
                    <a:pt x="0" y="78558"/>
                  </a:lnTo>
                  <a:cubicBezTo>
                    <a:pt x="0" y="57723"/>
                    <a:pt x="8277" y="37742"/>
                    <a:pt x="23009" y="23009"/>
                  </a:cubicBezTo>
                  <a:cubicBezTo>
                    <a:pt x="37742" y="8277"/>
                    <a:pt x="57723" y="0"/>
                    <a:pt x="78558" y="0"/>
                  </a:cubicBezTo>
                  <a:close/>
                </a:path>
              </a:pathLst>
            </a:custGeom>
            <a:solidFill>
              <a:srgbClr val="FF73D8"/>
            </a:solidFill>
          </p:spPr>
        </p:sp>
        <p:sp>
          <p:nvSpPr>
            <p:cNvPr name="TextBox 10" id="10"/>
            <p:cNvSpPr txBox="true"/>
            <p:nvPr/>
          </p:nvSpPr>
          <p:spPr>
            <a:xfrm>
              <a:off x="0" y="-47625"/>
              <a:ext cx="908442" cy="560469"/>
            </a:xfrm>
            <a:prstGeom prst="rect">
              <a:avLst/>
            </a:prstGeom>
          </p:spPr>
          <p:txBody>
            <a:bodyPr anchor="ctr" rtlCol="false" tIns="50800" lIns="50800" bIns="50800" rIns="50800"/>
            <a:lstStyle/>
            <a:p>
              <a:pPr algn="ctr" marL="0" indent="0" lvl="0">
                <a:lnSpc>
                  <a:spcPts val="3359"/>
                </a:lnSpc>
              </a:pPr>
            </a:p>
          </p:txBody>
        </p:sp>
      </p:grpSp>
      <p:grpSp>
        <p:nvGrpSpPr>
          <p:cNvPr name="Group 11" id="11"/>
          <p:cNvGrpSpPr/>
          <p:nvPr/>
        </p:nvGrpSpPr>
        <p:grpSpPr>
          <a:xfrm rot="0">
            <a:off x="2846744" y="7931925"/>
            <a:ext cx="705546" cy="705546"/>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3" id="13"/>
            <p:cNvSpPr txBox="true"/>
            <p:nvPr/>
          </p:nvSpPr>
          <p:spPr>
            <a:xfrm>
              <a:off x="76200" y="28575"/>
              <a:ext cx="660400" cy="708025"/>
            </a:xfrm>
            <a:prstGeom prst="rect">
              <a:avLst/>
            </a:prstGeom>
          </p:spPr>
          <p:txBody>
            <a:bodyPr anchor="ctr" rtlCol="false" tIns="50800" lIns="50800" bIns="50800" rIns="50800"/>
            <a:lstStyle/>
            <a:p>
              <a:pPr algn="ctr" marL="0" indent="0" lvl="0">
                <a:lnSpc>
                  <a:spcPts val="3359"/>
                </a:lnSpc>
              </a:pPr>
            </a:p>
          </p:txBody>
        </p:sp>
      </p:grpSp>
      <p:grpSp>
        <p:nvGrpSpPr>
          <p:cNvPr name="Group 14" id="14"/>
          <p:cNvGrpSpPr/>
          <p:nvPr/>
        </p:nvGrpSpPr>
        <p:grpSpPr>
          <a:xfrm rot="0">
            <a:off x="6593562" y="7931925"/>
            <a:ext cx="705546" cy="705546"/>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6" id="16"/>
            <p:cNvSpPr txBox="true"/>
            <p:nvPr/>
          </p:nvSpPr>
          <p:spPr>
            <a:xfrm>
              <a:off x="76200" y="28575"/>
              <a:ext cx="660400" cy="708025"/>
            </a:xfrm>
            <a:prstGeom prst="rect">
              <a:avLst/>
            </a:prstGeom>
          </p:spPr>
          <p:txBody>
            <a:bodyPr anchor="ctr" rtlCol="false" tIns="50800" lIns="50800" bIns="50800" rIns="50800"/>
            <a:lstStyle/>
            <a:p>
              <a:pPr algn="ctr" marL="0" indent="0" lvl="0">
                <a:lnSpc>
                  <a:spcPts val="3359"/>
                </a:lnSpc>
              </a:pPr>
            </a:p>
          </p:txBody>
        </p:sp>
      </p:grpSp>
      <p:sp>
        <p:nvSpPr>
          <p:cNvPr name="Freeform 17" id="17"/>
          <p:cNvSpPr/>
          <p:nvPr/>
        </p:nvSpPr>
        <p:spPr>
          <a:xfrm flipH="false" flipV="false" rot="0">
            <a:off x="6684634" y="8022997"/>
            <a:ext cx="523402" cy="523402"/>
          </a:xfrm>
          <a:custGeom>
            <a:avLst/>
            <a:gdLst/>
            <a:ahLst/>
            <a:cxnLst/>
            <a:rect r="r" b="b" t="t" l="l"/>
            <a:pathLst>
              <a:path h="523402" w="523402">
                <a:moveTo>
                  <a:pt x="0" y="0"/>
                </a:moveTo>
                <a:lnTo>
                  <a:pt x="523402" y="0"/>
                </a:lnTo>
                <a:lnTo>
                  <a:pt x="523402" y="523401"/>
                </a:lnTo>
                <a:lnTo>
                  <a:pt x="0" y="52340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8" id="18"/>
          <p:cNvSpPr/>
          <p:nvPr/>
        </p:nvSpPr>
        <p:spPr>
          <a:xfrm flipH="false" flipV="false" rot="0">
            <a:off x="2937816" y="8022997"/>
            <a:ext cx="523402" cy="523402"/>
          </a:xfrm>
          <a:custGeom>
            <a:avLst/>
            <a:gdLst/>
            <a:ahLst/>
            <a:cxnLst/>
            <a:rect r="r" b="b" t="t" l="l"/>
            <a:pathLst>
              <a:path h="523402" w="523402">
                <a:moveTo>
                  <a:pt x="0" y="0"/>
                </a:moveTo>
                <a:lnTo>
                  <a:pt x="523402" y="0"/>
                </a:lnTo>
                <a:lnTo>
                  <a:pt x="523402" y="523401"/>
                </a:lnTo>
                <a:lnTo>
                  <a:pt x="0" y="52340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9" id="19"/>
          <p:cNvSpPr txBox="true"/>
          <p:nvPr/>
        </p:nvSpPr>
        <p:spPr>
          <a:xfrm rot="0">
            <a:off x="1799160" y="1744107"/>
            <a:ext cx="6958784" cy="1772920"/>
          </a:xfrm>
          <a:prstGeom prst="rect">
            <a:avLst/>
          </a:prstGeom>
        </p:spPr>
        <p:txBody>
          <a:bodyPr anchor="t" rtlCol="false" tIns="0" lIns="0" bIns="0" rIns="0">
            <a:spAutoFit/>
          </a:bodyPr>
          <a:lstStyle/>
          <a:p>
            <a:pPr algn="l" marL="0" indent="0" lvl="0">
              <a:lnSpc>
                <a:spcPts val="6800"/>
              </a:lnSpc>
            </a:pPr>
            <a:r>
              <a:rPr lang="en-US" b="true" sz="6800">
                <a:solidFill>
                  <a:srgbClr val="000000"/>
                </a:solidFill>
                <a:latin typeface="Canva Sans Bold"/>
                <a:ea typeface="Canva Sans Bold"/>
                <a:cs typeface="Canva Sans Bold"/>
                <a:sym typeface="Canva Sans Bold"/>
              </a:rPr>
              <a:t>Introduction</a:t>
            </a:r>
          </a:p>
          <a:p>
            <a:pPr algn="l" marL="0" indent="0" lvl="0">
              <a:lnSpc>
                <a:spcPts val="6800"/>
              </a:lnSpc>
            </a:pPr>
            <a:r>
              <a:rPr lang="en-US" b="true" sz="6800">
                <a:solidFill>
                  <a:srgbClr val="000000"/>
                </a:solidFill>
                <a:latin typeface="Canva Sans Bold"/>
                <a:ea typeface="Canva Sans Bold"/>
                <a:cs typeface="Canva Sans Bold"/>
                <a:sym typeface="Canva Sans Bold"/>
              </a:rPr>
              <a:t>to Marketing</a:t>
            </a:r>
          </a:p>
        </p:txBody>
      </p:sp>
      <p:sp>
        <p:nvSpPr>
          <p:cNvPr name="Freeform 20" id="20"/>
          <p:cNvSpPr/>
          <p:nvPr/>
        </p:nvSpPr>
        <p:spPr>
          <a:xfrm flipH="false" flipV="false" rot="0">
            <a:off x="14173200" y="-214418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1" id="21"/>
          <p:cNvSpPr/>
          <p:nvPr/>
        </p:nvSpPr>
        <p:spPr>
          <a:xfrm flipH="false" flipV="false" rot="0">
            <a:off x="7249391" y="2201391"/>
            <a:ext cx="1230897" cy="967816"/>
          </a:xfrm>
          <a:custGeom>
            <a:avLst/>
            <a:gdLst/>
            <a:ahLst/>
            <a:cxnLst/>
            <a:rect r="r" b="b" t="t" l="l"/>
            <a:pathLst>
              <a:path h="967816" w="1230897">
                <a:moveTo>
                  <a:pt x="0" y="0"/>
                </a:moveTo>
                <a:lnTo>
                  <a:pt x="1230897" y="0"/>
                </a:lnTo>
                <a:lnTo>
                  <a:pt x="1230897" y="967816"/>
                </a:lnTo>
                <a:lnTo>
                  <a:pt x="0" y="967816"/>
                </a:lnTo>
                <a:lnTo>
                  <a:pt x="0" y="0"/>
                </a:lnTo>
                <a:close/>
              </a:path>
            </a:pathLst>
          </a:custGeom>
          <a:blipFill>
            <a:blip r:embed="rId9">
              <a:extLst>
                <a:ext uri="{96DAC541-7B7A-43D3-8B79-37D633B846F1}">
                  <asvg:svgBlip xmlns:asvg="http://schemas.microsoft.com/office/drawing/2016/SVG/main" r:embed="rId10"/>
                </a:ext>
              </a:extLst>
            </a:blip>
            <a:stretch>
              <a:fillRect l="0" t="0" r="-35952" b="-47129"/>
            </a:stretch>
          </a:blipFill>
        </p:spPr>
      </p:sp>
      <p:sp>
        <p:nvSpPr>
          <p:cNvPr name="TextBox 22" id="22"/>
          <p:cNvSpPr txBox="true"/>
          <p:nvPr/>
        </p:nvSpPr>
        <p:spPr>
          <a:xfrm rot="0">
            <a:off x="9687817" y="1582182"/>
            <a:ext cx="7064294" cy="438786"/>
          </a:xfrm>
          <a:prstGeom prst="rect">
            <a:avLst/>
          </a:prstGeom>
        </p:spPr>
        <p:txBody>
          <a:bodyPr anchor="t" rtlCol="false" tIns="0" lIns="0" bIns="0" rIns="0">
            <a:spAutoFit/>
          </a:bodyPr>
          <a:lstStyle/>
          <a:p>
            <a:pPr algn="l" marL="0" indent="0" lvl="0">
              <a:lnSpc>
                <a:spcPts val="3639"/>
              </a:lnSpc>
            </a:pPr>
            <a:r>
              <a:rPr lang="en-US" b="true" sz="2599">
                <a:solidFill>
                  <a:srgbClr val="000000"/>
                </a:solidFill>
                <a:latin typeface="Open Sauce Bold"/>
                <a:ea typeface="Open Sauce Bold"/>
                <a:cs typeface="Open Sauce Bold"/>
                <a:sym typeface="Open Sauce Bold"/>
              </a:rPr>
              <a:t>What Is Marketing &amp; How Does It Work?</a:t>
            </a:r>
          </a:p>
        </p:txBody>
      </p:sp>
      <p:sp>
        <p:nvSpPr>
          <p:cNvPr name="TextBox 23" id="23"/>
          <p:cNvSpPr txBox="true"/>
          <p:nvPr/>
        </p:nvSpPr>
        <p:spPr>
          <a:xfrm rot="0">
            <a:off x="9687817" y="2326290"/>
            <a:ext cx="6801022" cy="2732194"/>
          </a:xfrm>
          <a:prstGeom prst="rect">
            <a:avLst/>
          </a:prstGeom>
        </p:spPr>
        <p:txBody>
          <a:bodyPr anchor="t" rtlCol="false" tIns="0" lIns="0" bIns="0" rIns="0">
            <a:spAutoFit/>
          </a:bodyPr>
          <a:lstStyle/>
          <a:p>
            <a:pPr algn="l" marL="0" indent="0" lvl="0">
              <a:lnSpc>
                <a:spcPts val="2706"/>
              </a:lnSpc>
            </a:pPr>
            <a:r>
              <a:rPr lang="en-US" sz="1933">
                <a:solidFill>
                  <a:srgbClr val="000000"/>
                </a:solidFill>
                <a:latin typeface="Open Sauce"/>
                <a:ea typeface="Open Sauce"/>
                <a:cs typeface="Open Sauce"/>
                <a:sym typeface="Open Sauce"/>
              </a:rPr>
              <a:t>Marketing is the process of understanding your customer communicating your value and building lasting relationships. The journey flows Understand → Attract → Engage → Convert → Retain. Traditional Marketing uses flyers, banners &amp; local newspaper ads for physical reach. Digital Marketing uses Instagram, Google Ads, social media &amp; influencer marketing for wider, targeted reach.</a:t>
            </a:r>
          </a:p>
        </p:txBody>
      </p:sp>
      <p:sp>
        <p:nvSpPr>
          <p:cNvPr name="TextBox 24" id="24"/>
          <p:cNvSpPr txBox="true"/>
          <p:nvPr/>
        </p:nvSpPr>
        <p:spPr>
          <a:xfrm rot="0">
            <a:off x="3904035" y="8307557"/>
            <a:ext cx="1658870" cy="756285"/>
          </a:xfrm>
          <a:prstGeom prst="rect">
            <a:avLst/>
          </a:prstGeom>
        </p:spPr>
        <p:txBody>
          <a:bodyPr anchor="t" rtlCol="false" tIns="0" lIns="0" bIns="0" rIns="0">
            <a:spAutoFit/>
          </a:bodyPr>
          <a:lstStyle/>
          <a:p>
            <a:pPr algn="l" marL="0" indent="0" lvl="0">
              <a:lnSpc>
                <a:spcPts val="1560"/>
              </a:lnSpc>
            </a:pPr>
            <a:r>
              <a:rPr lang="en-US" sz="1200">
                <a:solidFill>
                  <a:srgbClr val="000000"/>
                </a:solidFill>
                <a:latin typeface="Open Sauce"/>
                <a:ea typeface="Open Sauce"/>
                <a:cs typeface="Open Sauce"/>
                <a:sym typeface="Open Sauce"/>
              </a:rPr>
              <a:t>Marketing Journey: Understand → Attract → Engage → Convert → Retain</a:t>
            </a:r>
          </a:p>
        </p:txBody>
      </p:sp>
      <p:sp>
        <p:nvSpPr>
          <p:cNvPr name="TextBox 25" id="25"/>
          <p:cNvSpPr txBox="true"/>
          <p:nvPr/>
        </p:nvSpPr>
        <p:spPr>
          <a:xfrm rot="0">
            <a:off x="7650853" y="8307557"/>
            <a:ext cx="1658870" cy="565785"/>
          </a:xfrm>
          <a:prstGeom prst="rect">
            <a:avLst/>
          </a:prstGeom>
        </p:spPr>
        <p:txBody>
          <a:bodyPr anchor="t" rtlCol="false" tIns="0" lIns="0" bIns="0" rIns="0">
            <a:spAutoFit/>
          </a:bodyPr>
          <a:lstStyle/>
          <a:p>
            <a:pPr algn="l" marL="0" indent="0" lvl="0">
              <a:lnSpc>
                <a:spcPts val="1560"/>
              </a:lnSpc>
            </a:pPr>
            <a:r>
              <a:rPr lang="en-US" sz="1200">
                <a:solidFill>
                  <a:srgbClr val="FFFFFF"/>
                </a:solidFill>
                <a:latin typeface="Open Sauce"/>
                <a:ea typeface="Open Sauce"/>
                <a:cs typeface="Open Sauce"/>
                <a:sym typeface="Open Sauce"/>
              </a:rPr>
              <a:t>Traditional vs Digital: Local Reach vs Global Targeted Reach</a:t>
            </a:r>
          </a:p>
        </p:txBody>
      </p:sp>
      <p:sp>
        <p:nvSpPr>
          <p:cNvPr name="TextBox 26" id="26"/>
          <p:cNvSpPr txBox="true"/>
          <p:nvPr/>
        </p:nvSpPr>
        <p:spPr>
          <a:xfrm rot="0">
            <a:off x="3904035" y="7627472"/>
            <a:ext cx="1235529" cy="489585"/>
          </a:xfrm>
          <a:prstGeom prst="rect">
            <a:avLst/>
          </a:prstGeom>
        </p:spPr>
        <p:txBody>
          <a:bodyPr anchor="t" rtlCol="false" tIns="0" lIns="0" bIns="0" rIns="0">
            <a:spAutoFit/>
          </a:bodyPr>
          <a:lstStyle/>
          <a:p>
            <a:pPr algn="l" marL="0" indent="0" lvl="0">
              <a:lnSpc>
                <a:spcPts val="3990"/>
              </a:lnSpc>
            </a:pPr>
            <a:r>
              <a:rPr lang="en-US" b="true" sz="2850">
                <a:solidFill>
                  <a:srgbClr val="000000"/>
                </a:solidFill>
                <a:latin typeface="Open Sauce Bold"/>
                <a:ea typeface="Open Sauce Bold"/>
                <a:cs typeface="Open Sauce Bold"/>
                <a:sym typeface="Open Sauce Bold"/>
              </a:rPr>
              <a:t>5-Step</a:t>
            </a:r>
          </a:p>
        </p:txBody>
      </p:sp>
      <p:sp>
        <p:nvSpPr>
          <p:cNvPr name="TextBox 27" id="27"/>
          <p:cNvSpPr txBox="true"/>
          <p:nvPr/>
        </p:nvSpPr>
        <p:spPr>
          <a:xfrm rot="0">
            <a:off x="7650853" y="7627472"/>
            <a:ext cx="1235529" cy="489585"/>
          </a:xfrm>
          <a:prstGeom prst="rect">
            <a:avLst/>
          </a:prstGeom>
        </p:spPr>
        <p:txBody>
          <a:bodyPr anchor="t" rtlCol="false" tIns="0" lIns="0" bIns="0" rIns="0">
            <a:spAutoFit/>
          </a:bodyPr>
          <a:lstStyle/>
          <a:p>
            <a:pPr algn="l" marL="0" indent="0" lvl="0">
              <a:lnSpc>
                <a:spcPts val="3990"/>
              </a:lnSpc>
            </a:pPr>
            <a:r>
              <a:rPr lang="en-US" b="true" sz="2850">
                <a:solidFill>
                  <a:srgbClr val="FFFFFF"/>
                </a:solidFill>
                <a:latin typeface="Open Sauce Bold"/>
                <a:ea typeface="Open Sauce Bold"/>
                <a:cs typeface="Open Sauce Bold"/>
                <a:sym typeface="Open Sauce Bold"/>
              </a:rPr>
              <a:t>2-Way</a:t>
            </a:r>
          </a:p>
        </p:txBody>
      </p:sp>
      <p:sp>
        <p:nvSpPr>
          <p:cNvPr name="Freeform 28" id="28"/>
          <p:cNvSpPr/>
          <p:nvPr/>
        </p:nvSpPr>
        <p:spPr>
          <a:xfrm flipH="false" flipV="false" rot="0">
            <a:off x="4717539" y="737608"/>
            <a:ext cx="561013" cy="582184"/>
          </a:xfrm>
          <a:custGeom>
            <a:avLst/>
            <a:gdLst/>
            <a:ahLst/>
            <a:cxnLst/>
            <a:rect r="r" b="b" t="t" l="l"/>
            <a:pathLst>
              <a:path h="582184" w="561013">
                <a:moveTo>
                  <a:pt x="0" y="0"/>
                </a:moveTo>
                <a:lnTo>
                  <a:pt x="561013" y="0"/>
                </a:lnTo>
                <a:lnTo>
                  <a:pt x="561013" y="582184"/>
                </a:lnTo>
                <a:lnTo>
                  <a:pt x="0" y="582184"/>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29" id="29"/>
          <p:cNvSpPr/>
          <p:nvPr/>
        </p:nvSpPr>
        <p:spPr>
          <a:xfrm flipH="false" flipV="false" rot="0">
            <a:off x="16471604" y="4561316"/>
            <a:ext cx="561013" cy="582184"/>
          </a:xfrm>
          <a:custGeom>
            <a:avLst/>
            <a:gdLst/>
            <a:ahLst/>
            <a:cxnLst/>
            <a:rect r="r" b="b" t="t" l="l"/>
            <a:pathLst>
              <a:path h="582184" w="561013">
                <a:moveTo>
                  <a:pt x="0" y="0"/>
                </a:moveTo>
                <a:lnTo>
                  <a:pt x="561014" y="0"/>
                </a:lnTo>
                <a:lnTo>
                  <a:pt x="561014" y="582184"/>
                </a:lnTo>
                <a:lnTo>
                  <a:pt x="0" y="582184"/>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FBEF"/>
        </a:solidFill>
      </p:bgPr>
    </p:bg>
    <p:spTree>
      <p:nvGrpSpPr>
        <p:cNvPr id="1" name=""/>
        <p:cNvGrpSpPr/>
        <p:nvPr/>
      </p:nvGrpSpPr>
      <p:grpSpPr>
        <a:xfrm>
          <a:off x="0" y="0"/>
          <a:ext cx="0" cy="0"/>
          <a:chOff x="0" y="0"/>
          <a:chExt cx="0" cy="0"/>
        </a:xfrm>
      </p:grpSpPr>
      <p:sp>
        <p:nvSpPr>
          <p:cNvPr name="Freeform 2" id="2"/>
          <p:cNvSpPr/>
          <p:nvPr/>
        </p:nvSpPr>
        <p:spPr>
          <a:xfrm flipH="false" flipV="false" rot="0">
            <a:off x="14340110" y="-44368"/>
            <a:ext cx="3947890" cy="3947890"/>
          </a:xfrm>
          <a:custGeom>
            <a:avLst/>
            <a:gdLst/>
            <a:ahLst/>
            <a:cxnLst/>
            <a:rect r="r" b="b" t="t" l="l"/>
            <a:pathLst>
              <a:path h="3947890" w="3947890">
                <a:moveTo>
                  <a:pt x="0" y="0"/>
                </a:moveTo>
                <a:lnTo>
                  <a:pt x="3947890" y="0"/>
                </a:lnTo>
                <a:lnTo>
                  <a:pt x="3947890" y="3947889"/>
                </a:lnTo>
                <a:lnTo>
                  <a:pt x="0" y="39478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733019" y="1126120"/>
            <a:ext cx="5977168" cy="2577377"/>
            <a:chOff x="0" y="0"/>
            <a:chExt cx="1574234" cy="678815"/>
          </a:xfrm>
        </p:grpSpPr>
        <p:sp>
          <p:nvSpPr>
            <p:cNvPr name="Freeform 4" id="4"/>
            <p:cNvSpPr/>
            <p:nvPr/>
          </p:nvSpPr>
          <p:spPr>
            <a:xfrm flipH="false" flipV="false" rot="0">
              <a:off x="0" y="0"/>
              <a:ext cx="1574234" cy="678815"/>
            </a:xfrm>
            <a:custGeom>
              <a:avLst/>
              <a:gdLst/>
              <a:ahLst/>
              <a:cxnLst/>
              <a:rect r="r" b="b" t="t" l="l"/>
              <a:pathLst>
                <a:path h="678815" w="1574234">
                  <a:moveTo>
                    <a:pt x="66058" y="0"/>
                  </a:moveTo>
                  <a:lnTo>
                    <a:pt x="1508176" y="0"/>
                  </a:lnTo>
                  <a:cubicBezTo>
                    <a:pt x="1525695" y="0"/>
                    <a:pt x="1542498" y="6960"/>
                    <a:pt x="1554886" y="19348"/>
                  </a:cubicBezTo>
                  <a:cubicBezTo>
                    <a:pt x="1567274" y="31736"/>
                    <a:pt x="1574234" y="48538"/>
                    <a:pt x="1574234" y="66058"/>
                  </a:cubicBezTo>
                  <a:lnTo>
                    <a:pt x="1574234" y="612758"/>
                  </a:lnTo>
                  <a:cubicBezTo>
                    <a:pt x="1574234" y="649240"/>
                    <a:pt x="1544659" y="678815"/>
                    <a:pt x="1508176" y="678815"/>
                  </a:cubicBezTo>
                  <a:lnTo>
                    <a:pt x="66058" y="678815"/>
                  </a:lnTo>
                  <a:cubicBezTo>
                    <a:pt x="48538" y="678815"/>
                    <a:pt x="31736" y="671856"/>
                    <a:pt x="19348" y="659467"/>
                  </a:cubicBezTo>
                  <a:cubicBezTo>
                    <a:pt x="6960" y="647079"/>
                    <a:pt x="0" y="630277"/>
                    <a:pt x="0" y="612758"/>
                  </a:cubicBezTo>
                  <a:lnTo>
                    <a:pt x="0" y="66058"/>
                  </a:lnTo>
                  <a:cubicBezTo>
                    <a:pt x="0" y="29575"/>
                    <a:pt x="29575" y="0"/>
                    <a:pt x="66058" y="0"/>
                  </a:cubicBezTo>
                  <a:close/>
                </a:path>
              </a:pathLst>
            </a:custGeom>
            <a:solidFill>
              <a:srgbClr val="FFDE59"/>
            </a:solidFill>
          </p:spPr>
        </p:sp>
        <p:sp>
          <p:nvSpPr>
            <p:cNvPr name="TextBox 5" id="5"/>
            <p:cNvSpPr txBox="true"/>
            <p:nvPr/>
          </p:nvSpPr>
          <p:spPr>
            <a:xfrm>
              <a:off x="0" y="-47625"/>
              <a:ext cx="1574234" cy="726440"/>
            </a:xfrm>
            <a:prstGeom prst="rect">
              <a:avLst/>
            </a:prstGeom>
          </p:spPr>
          <p:txBody>
            <a:bodyPr anchor="ctr" rtlCol="false" tIns="50800" lIns="50800" bIns="50800" rIns="50800"/>
            <a:lstStyle/>
            <a:p>
              <a:pPr algn="ctr" marL="0" indent="0" lvl="0">
                <a:lnSpc>
                  <a:spcPts val="3360"/>
                </a:lnSpc>
              </a:pPr>
            </a:p>
          </p:txBody>
        </p:sp>
      </p:grpSp>
      <p:grpSp>
        <p:nvGrpSpPr>
          <p:cNvPr name="Group 6" id="6"/>
          <p:cNvGrpSpPr/>
          <p:nvPr/>
        </p:nvGrpSpPr>
        <p:grpSpPr>
          <a:xfrm rot="0">
            <a:off x="10733019" y="3903521"/>
            <a:ext cx="5977168" cy="2577377"/>
            <a:chOff x="0" y="0"/>
            <a:chExt cx="1574234" cy="678815"/>
          </a:xfrm>
        </p:grpSpPr>
        <p:sp>
          <p:nvSpPr>
            <p:cNvPr name="Freeform 7" id="7"/>
            <p:cNvSpPr/>
            <p:nvPr/>
          </p:nvSpPr>
          <p:spPr>
            <a:xfrm flipH="false" flipV="false" rot="0">
              <a:off x="0" y="0"/>
              <a:ext cx="1574234" cy="678815"/>
            </a:xfrm>
            <a:custGeom>
              <a:avLst/>
              <a:gdLst/>
              <a:ahLst/>
              <a:cxnLst/>
              <a:rect r="r" b="b" t="t" l="l"/>
              <a:pathLst>
                <a:path h="678815" w="1574234">
                  <a:moveTo>
                    <a:pt x="66058" y="0"/>
                  </a:moveTo>
                  <a:lnTo>
                    <a:pt x="1508176" y="0"/>
                  </a:lnTo>
                  <a:cubicBezTo>
                    <a:pt x="1525695" y="0"/>
                    <a:pt x="1542498" y="6960"/>
                    <a:pt x="1554886" y="19348"/>
                  </a:cubicBezTo>
                  <a:cubicBezTo>
                    <a:pt x="1567274" y="31736"/>
                    <a:pt x="1574234" y="48538"/>
                    <a:pt x="1574234" y="66058"/>
                  </a:cubicBezTo>
                  <a:lnTo>
                    <a:pt x="1574234" y="612758"/>
                  </a:lnTo>
                  <a:cubicBezTo>
                    <a:pt x="1574234" y="649240"/>
                    <a:pt x="1544659" y="678815"/>
                    <a:pt x="1508176" y="678815"/>
                  </a:cubicBezTo>
                  <a:lnTo>
                    <a:pt x="66058" y="678815"/>
                  </a:lnTo>
                  <a:cubicBezTo>
                    <a:pt x="48538" y="678815"/>
                    <a:pt x="31736" y="671856"/>
                    <a:pt x="19348" y="659467"/>
                  </a:cubicBezTo>
                  <a:cubicBezTo>
                    <a:pt x="6960" y="647079"/>
                    <a:pt x="0" y="630277"/>
                    <a:pt x="0" y="612758"/>
                  </a:cubicBezTo>
                  <a:lnTo>
                    <a:pt x="0" y="66058"/>
                  </a:lnTo>
                  <a:cubicBezTo>
                    <a:pt x="0" y="29575"/>
                    <a:pt x="29575" y="0"/>
                    <a:pt x="66058" y="0"/>
                  </a:cubicBezTo>
                  <a:close/>
                </a:path>
              </a:pathLst>
            </a:custGeom>
            <a:solidFill>
              <a:srgbClr val="FF73D8"/>
            </a:solidFill>
          </p:spPr>
        </p:sp>
        <p:sp>
          <p:nvSpPr>
            <p:cNvPr name="TextBox 8" id="8"/>
            <p:cNvSpPr txBox="true"/>
            <p:nvPr/>
          </p:nvSpPr>
          <p:spPr>
            <a:xfrm>
              <a:off x="0" y="-47625"/>
              <a:ext cx="1574234" cy="726440"/>
            </a:xfrm>
            <a:prstGeom prst="rect">
              <a:avLst/>
            </a:prstGeom>
          </p:spPr>
          <p:txBody>
            <a:bodyPr anchor="ctr" rtlCol="false" tIns="50800" lIns="50800" bIns="50800" rIns="50800"/>
            <a:lstStyle/>
            <a:p>
              <a:pPr algn="ctr" marL="0" indent="0" lvl="0">
                <a:lnSpc>
                  <a:spcPts val="3360"/>
                </a:lnSpc>
              </a:pPr>
            </a:p>
          </p:txBody>
        </p:sp>
      </p:grpSp>
      <p:grpSp>
        <p:nvGrpSpPr>
          <p:cNvPr name="Group 9" id="9"/>
          <p:cNvGrpSpPr/>
          <p:nvPr/>
        </p:nvGrpSpPr>
        <p:grpSpPr>
          <a:xfrm rot="0">
            <a:off x="10733019" y="6680923"/>
            <a:ext cx="5977168" cy="2577377"/>
            <a:chOff x="0" y="0"/>
            <a:chExt cx="1574234" cy="678815"/>
          </a:xfrm>
        </p:grpSpPr>
        <p:sp>
          <p:nvSpPr>
            <p:cNvPr name="Freeform 10" id="10"/>
            <p:cNvSpPr/>
            <p:nvPr/>
          </p:nvSpPr>
          <p:spPr>
            <a:xfrm flipH="false" flipV="false" rot="0">
              <a:off x="0" y="0"/>
              <a:ext cx="1574234" cy="678815"/>
            </a:xfrm>
            <a:custGeom>
              <a:avLst/>
              <a:gdLst/>
              <a:ahLst/>
              <a:cxnLst/>
              <a:rect r="r" b="b" t="t" l="l"/>
              <a:pathLst>
                <a:path h="678815" w="1574234">
                  <a:moveTo>
                    <a:pt x="66058" y="0"/>
                  </a:moveTo>
                  <a:lnTo>
                    <a:pt x="1508176" y="0"/>
                  </a:lnTo>
                  <a:cubicBezTo>
                    <a:pt x="1525695" y="0"/>
                    <a:pt x="1542498" y="6960"/>
                    <a:pt x="1554886" y="19348"/>
                  </a:cubicBezTo>
                  <a:cubicBezTo>
                    <a:pt x="1567274" y="31736"/>
                    <a:pt x="1574234" y="48538"/>
                    <a:pt x="1574234" y="66058"/>
                  </a:cubicBezTo>
                  <a:lnTo>
                    <a:pt x="1574234" y="612758"/>
                  </a:lnTo>
                  <a:cubicBezTo>
                    <a:pt x="1574234" y="649240"/>
                    <a:pt x="1544659" y="678815"/>
                    <a:pt x="1508176" y="678815"/>
                  </a:cubicBezTo>
                  <a:lnTo>
                    <a:pt x="66058" y="678815"/>
                  </a:lnTo>
                  <a:cubicBezTo>
                    <a:pt x="48538" y="678815"/>
                    <a:pt x="31736" y="671856"/>
                    <a:pt x="19348" y="659467"/>
                  </a:cubicBezTo>
                  <a:cubicBezTo>
                    <a:pt x="6960" y="647079"/>
                    <a:pt x="0" y="630277"/>
                    <a:pt x="0" y="612758"/>
                  </a:cubicBezTo>
                  <a:lnTo>
                    <a:pt x="0" y="66058"/>
                  </a:lnTo>
                  <a:cubicBezTo>
                    <a:pt x="0" y="29575"/>
                    <a:pt x="29575" y="0"/>
                    <a:pt x="66058" y="0"/>
                  </a:cubicBezTo>
                  <a:close/>
                </a:path>
              </a:pathLst>
            </a:custGeom>
            <a:solidFill>
              <a:srgbClr val="FFDE59"/>
            </a:solidFill>
          </p:spPr>
        </p:sp>
        <p:sp>
          <p:nvSpPr>
            <p:cNvPr name="TextBox 11" id="11"/>
            <p:cNvSpPr txBox="true"/>
            <p:nvPr/>
          </p:nvSpPr>
          <p:spPr>
            <a:xfrm>
              <a:off x="0" y="-47625"/>
              <a:ext cx="1574234" cy="726440"/>
            </a:xfrm>
            <a:prstGeom prst="rect">
              <a:avLst/>
            </a:prstGeom>
          </p:spPr>
          <p:txBody>
            <a:bodyPr anchor="ctr" rtlCol="false" tIns="50800" lIns="50800" bIns="50800" rIns="50800"/>
            <a:lstStyle/>
            <a:p>
              <a:pPr algn="ctr" marL="0" indent="0" lvl="0">
                <a:lnSpc>
                  <a:spcPts val="3360"/>
                </a:lnSpc>
              </a:pPr>
            </a:p>
          </p:txBody>
        </p:sp>
      </p:grpSp>
      <p:sp>
        <p:nvSpPr>
          <p:cNvPr name="Freeform 12" id="12"/>
          <p:cNvSpPr/>
          <p:nvPr/>
        </p:nvSpPr>
        <p:spPr>
          <a:xfrm flipH="false" flipV="false" rot="0">
            <a:off x="11057323" y="2178952"/>
            <a:ext cx="476894" cy="476894"/>
          </a:xfrm>
          <a:custGeom>
            <a:avLst/>
            <a:gdLst/>
            <a:ahLst/>
            <a:cxnLst/>
            <a:rect r="r" b="b" t="t" l="l"/>
            <a:pathLst>
              <a:path h="476894" w="476894">
                <a:moveTo>
                  <a:pt x="0" y="0"/>
                </a:moveTo>
                <a:lnTo>
                  <a:pt x="476893" y="0"/>
                </a:lnTo>
                <a:lnTo>
                  <a:pt x="476893" y="476894"/>
                </a:lnTo>
                <a:lnTo>
                  <a:pt x="0" y="47689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11057323" y="4905053"/>
            <a:ext cx="476894" cy="476894"/>
          </a:xfrm>
          <a:custGeom>
            <a:avLst/>
            <a:gdLst/>
            <a:ahLst/>
            <a:cxnLst/>
            <a:rect r="r" b="b" t="t" l="l"/>
            <a:pathLst>
              <a:path h="476894" w="476894">
                <a:moveTo>
                  <a:pt x="0" y="0"/>
                </a:moveTo>
                <a:lnTo>
                  <a:pt x="476893" y="0"/>
                </a:lnTo>
                <a:lnTo>
                  <a:pt x="476893" y="476894"/>
                </a:lnTo>
                <a:lnTo>
                  <a:pt x="0" y="47689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false" flipV="false" rot="0">
            <a:off x="11057323" y="7758852"/>
            <a:ext cx="476894" cy="476894"/>
          </a:xfrm>
          <a:custGeom>
            <a:avLst/>
            <a:gdLst/>
            <a:ahLst/>
            <a:cxnLst/>
            <a:rect r="r" b="b" t="t" l="l"/>
            <a:pathLst>
              <a:path h="476894" w="476894">
                <a:moveTo>
                  <a:pt x="0" y="0"/>
                </a:moveTo>
                <a:lnTo>
                  <a:pt x="476893" y="0"/>
                </a:lnTo>
                <a:lnTo>
                  <a:pt x="476893" y="476894"/>
                </a:lnTo>
                <a:lnTo>
                  <a:pt x="0" y="47689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5" id="15"/>
          <p:cNvSpPr/>
          <p:nvPr/>
        </p:nvSpPr>
        <p:spPr>
          <a:xfrm flipH="false" flipV="false" rot="0">
            <a:off x="-1419664" y="4324557"/>
            <a:ext cx="2569235" cy="2569235"/>
          </a:xfrm>
          <a:custGeom>
            <a:avLst/>
            <a:gdLst/>
            <a:ahLst/>
            <a:cxnLst/>
            <a:rect r="r" b="b" t="t" l="l"/>
            <a:pathLst>
              <a:path h="2569235" w="2569235">
                <a:moveTo>
                  <a:pt x="0" y="0"/>
                </a:moveTo>
                <a:lnTo>
                  <a:pt x="2569235" y="0"/>
                </a:lnTo>
                <a:lnTo>
                  <a:pt x="2569235" y="2569235"/>
                </a:lnTo>
                <a:lnTo>
                  <a:pt x="0" y="25692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0">
            <a:off x="8359708" y="5513083"/>
            <a:ext cx="1230897" cy="967816"/>
          </a:xfrm>
          <a:custGeom>
            <a:avLst/>
            <a:gdLst/>
            <a:ahLst/>
            <a:cxnLst/>
            <a:rect r="r" b="b" t="t" l="l"/>
            <a:pathLst>
              <a:path h="967816" w="1230897">
                <a:moveTo>
                  <a:pt x="0" y="0"/>
                </a:moveTo>
                <a:lnTo>
                  <a:pt x="1230897" y="0"/>
                </a:lnTo>
                <a:lnTo>
                  <a:pt x="1230897" y="967815"/>
                </a:lnTo>
                <a:lnTo>
                  <a:pt x="0" y="967815"/>
                </a:lnTo>
                <a:lnTo>
                  <a:pt x="0" y="0"/>
                </a:lnTo>
                <a:close/>
              </a:path>
            </a:pathLst>
          </a:custGeom>
          <a:blipFill>
            <a:blip r:embed="rId8">
              <a:extLst>
                <a:ext uri="{96DAC541-7B7A-43D3-8B79-37D633B846F1}">
                  <asvg:svgBlip xmlns:asvg="http://schemas.microsoft.com/office/drawing/2016/SVG/main" r:embed="rId9"/>
                </a:ext>
              </a:extLst>
            </a:blip>
            <a:stretch>
              <a:fillRect l="0" t="0" r="-35952" b="-47129"/>
            </a:stretch>
          </a:blipFill>
        </p:spPr>
      </p:sp>
      <p:sp>
        <p:nvSpPr>
          <p:cNvPr name="Freeform 17" id="17"/>
          <p:cNvSpPr/>
          <p:nvPr/>
        </p:nvSpPr>
        <p:spPr>
          <a:xfrm flipH="false" flipV="false" rot="0">
            <a:off x="1646239" y="3116427"/>
            <a:ext cx="5137442" cy="9340803"/>
          </a:xfrm>
          <a:custGeom>
            <a:avLst/>
            <a:gdLst/>
            <a:ahLst/>
            <a:cxnLst/>
            <a:rect r="r" b="b" t="t" l="l"/>
            <a:pathLst>
              <a:path h="9340803" w="5137442">
                <a:moveTo>
                  <a:pt x="0" y="0"/>
                </a:moveTo>
                <a:lnTo>
                  <a:pt x="5137442" y="0"/>
                </a:lnTo>
                <a:lnTo>
                  <a:pt x="5137442" y="9340804"/>
                </a:lnTo>
                <a:lnTo>
                  <a:pt x="0" y="9340804"/>
                </a:lnTo>
                <a:lnTo>
                  <a:pt x="0" y="0"/>
                </a:lnTo>
                <a:close/>
              </a:path>
            </a:pathLst>
          </a:custGeom>
          <a:blipFill>
            <a:blip r:embed="rId10"/>
            <a:stretch>
              <a:fillRect l="0" t="0" r="0" b="0"/>
            </a:stretch>
          </a:blipFill>
        </p:spPr>
      </p:sp>
      <p:sp>
        <p:nvSpPr>
          <p:cNvPr name="TextBox 18" id="18"/>
          <p:cNvSpPr txBox="true"/>
          <p:nvPr/>
        </p:nvSpPr>
        <p:spPr>
          <a:xfrm rot="0">
            <a:off x="1149571" y="1240420"/>
            <a:ext cx="4727060" cy="1772920"/>
          </a:xfrm>
          <a:prstGeom prst="rect">
            <a:avLst/>
          </a:prstGeom>
        </p:spPr>
        <p:txBody>
          <a:bodyPr anchor="t" rtlCol="false" tIns="0" lIns="0" bIns="0" rIns="0">
            <a:spAutoFit/>
          </a:bodyPr>
          <a:lstStyle/>
          <a:p>
            <a:pPr algn="l" marL="0" indent="0" lvl="0">
              <a:lnSpc>
                <a:spcPts val="6800"/>
              </a:lnSpc>
            </a:pPr>
            <a:r>
              <a:rPr lang="en-US" b="true" sz="6800" spc="-374">
                <a:solidFill>
                  <a:srgbClr val="000000"/>
                </a:solidFill>
                <a:latin typeface="Canva Sans Bold"/>
                <a:ea typeface="Canva Sans Bold"/>
                <a:cs typeface="Canva Sans Bold"/>
                <a:sym typeface="Canva Sans Bold"/>
              </a:rPr>
              <a:t>Marketing Activities</a:t>
            </a:r>
          </a:p>
        </p:txBody>
      </p:sp>
      <p:sp>
        <p:nvSpPr>
          <p:cNvPr name="TextBox 19" id="19"/>
          <p:cNvSpPr txBox="true"/>
          <p:nvPr/>
        </p:nvSpPr>
        <p:spPr>
          <a:xfrm rot="0">
            <a:off x="11851873" y="2328141"/>
            <a:ext cx="4281960" cy="1044647"/>
          </a:xfrm>
          <a:prstGeom prst="rect">
            <a:avLst/>
          </a:prstGeom>
        </p:spPr>
        <p:txBody>
          <a:bodyPr anchor="t" rtlCol="false" tIns="0" lIns="0" bIns="0" rIns="0">
            <a:spAutoFit/>
          </a:bodyPr>
          <a:lstStyle/>
          <a:p>
            <a:pPr algn="l" marL="0" indent="0" lvl="0">
              <a:lnSpc>
                <a:spcPts val="2796"/>
              </a:lnSpc>
            </a:pPr>
            <a:r>
              <a:rPr lang="en-US" sz="1997">
                <a:solidFill>
                  <a:srgbClr val="0B0A0A"/>
                </a:solidFill>
                <a:latin typeface="Open Sauce"/>
                <a:ea typeface="Open Sauce"/>
                <a:cs typeface="Open Sauce"/>
                <a:sym typeface="Open Sauce"/>
              </a:rPr>
              <a:t>Instagram content, Google Ads, and influencer marketing to grow Spice Garden's online reach.</a:t>
            </a:r>
          </a:p>
        </p:txBody>
      </p:sp>
      <p:sp>
        <p:nvSpPr>
          <p:cNvPr name="TextBox 20" id="20"/>
          <p:cNvSpPr txBox="true"/>
          <p:nvPr/>
        </p:nvSpPr>
        <p:spPr>
          <a:xfrm rot="0">
            <a:off x="11851873" y="4931426"/>
            <a:ext cx="4281960" cy="1397072"/>
          </a:xfrm>
          <a:prstGeom prst="rect">
            <a:avLst/>
          </a:prstGeom>
        </p:spPr>
        <p:txBody>
          <a:bodyPr anchor="t" rtlCol="false" tIns="0" lIns="0" bIns="0" rIns="0">
            <a:spAutoFit/>
          </a:bodyPr>
          <a:lstStyle/>
          <a:p>
            <a:pPr algn="l" marL="0" indent="0" lvl="0">
              <a:lnSpc>
                <a:spcPts val="2796"/>
              </a:lnSpc>
            </a:pPr>
            <a:r>
              <a:rPr lang="en-US" sz="1997">
                <a:solidFill>
                  <a:srgbClr val="FFFFFF"/>
                </a:solidFill>
                <a:latin typeface="Open Sauce"/>
                <a:ea typeface="Open Sauce"/>
                <a:cs typeface="Open Sauce"/>
                <a:sym typeface="Open Sauce"/>
              </a:rPr>
              <a:t>Seasonal promotions, festive combos, and corporate bulk-order packages to drive repeat business.</a:t>
            </a:r>
          </a:p>
        </p:txBody>
      </p:sp>
      <p:sp>
        <p:nvSpPr>
          <p:cNvPr name="TextBox 21" id="21"/>
          <p:cNvSpPr txBox="true"/>
          <p:nvPr/>
        </p:nvSpPr>
        <p:spPr>
          <a:xfrm rot="0">
            <a:off x="11851873" y="7748729"/>
            <a:ext cx="4281960" cy="1397072"/>
          </a:xfrm>
          <a:prstGeom prst="rect">
            <a:avLst/>
          </a:prstGeom>
        </p:spPr>
        <p:txBody>
          <a:bodyPr anchor="t" rtlCol="false" tIns="0" lIns="0" bIns="0" rIns="0">
            <a:spAutoFit/>
          </a:bodyPr>
          <a:lstStyle/>
          <a:p>
            <a:pPr algn="l" marL="0" indent="0" lvl="0">
              <a:lnSpc>
                <a:spcPts val="2796"/>
              </a:lnSpc>
            </a:pPr>
            <a:r>
              <a:rPr lang="en-US" sz="1997">
                <a:solidFill>
                  <a:srgbClr val="0B0A0A"/>
                </a:solidFill>
                <a:latin typeface="Open Sauce"/>
                <a:ea typeface="Open Sauce"/>
                <a:cs typeface="Open Sauce"/>
                <a:sym typeface="Open Sauce"/>
              </a:rPr>
              <a:t>Flyers, banners, and on-ground visibility to capture walk-in customers and build local brand awareness.</a:t>
            </a:r>
          </a:p>
        </p:txBody>
      </p:sp>
      <p:sp>
        <p:nvSpPr>
          <p:cNvPr name="TextBox 22" id="22"/>
          <p:cNvSpPr txBox="true"/>
          <p:nvPr/>
        </p:nvSpPr>
        <p:spPr>
          <a:xfrm rot="0">
            <a:off x="11851873" y="1771291"/>
            <a:ext cx="4734489" cy="364348"/>
          </a:xfrm>
          <a:prstGeom prst="rect">
            <a:avLst/>
          </a:prstGeom>
        </p:spPr>
        <p:txBody>
          <a:bodyPr anchor="t" rtlCol="false" tIns="0" lIns="0" bIns="0" rIns="0">
            <a:spAutoFit/>
          </a:bodyPr>
          <a:lstStyle/>
          <a:p>
            <a:pPr algn="l" marL="0" indent="0" lvl="0">
              <a:lnSpc>
                <a:spcPts val="3017"/>
              </a:lnSpc>
              <a:spcBef>
                <a:spcPct val="0"/>
              </a:spcBef>
            </a:pPr>
            <a:r>
              <a:rPr lang="en-US" b="true" sz="2155">
                <a:solidFill>
                  <a:srgbClr val="0B0A0A"/>
                </a:solidFill>
                <a:latin typeface="Open Sauce Bold"/>
                <a:ea typeface="Open Sauce Bold"/>
                <a:cs typeface="Open Sauce Bold"/>
                <a:sym typeface="Open Sauce Bold"/>
              </a:rPr>
              <a:t>Social Media &amp; Digital Ads</a:t>
            </a:r>
          </a:p>
        </p:txBody>
      </p:sp>
      <p:sp>
        <p:nvSpPr>
          <p:cNvPr name="TextBox 23" id="23"/>
          <p:cNvSpPr txBox="true"/>
          <p:nvPr/>
        </p:nvSpPr>
        <p:spPr>
          <a:xfrm rot="0">
            <a:off x="11851873" y="4159706"/>
            <a:ext cx="4062450" cy="745348"/>
          </a:xfrm>
          <a:prstGeom prst="rect">
            <a:avLst/>
          </a:prstGeom>
        </p:spPr>
        <p:txBody>
          <a:bodyPr anchor="t" rtlCol="false" tIns="0" lIns="0" bIns="0" rIns="0">
            <a:spAutoFit/>
          </a:bodyPr>
          <a:lstStyle/>
          <a:p>
            <a:pPr algn="l" marL="0" indent="0" lvl="0">
              <a:lnSpc>
                <a:spcPts val="3017"/>
              </a:lnSpc>
              <a:spcBef>
                <a:spcPct val="0"/>
              </a:spcBef>
            </a:pPr>
            <a:r>
              <a:rPr lang="en-US" b="true" sz="2155">
                <a:solidFill>
                  <a:srgbClr val="FFFFFF"/>
                </a:solidFill>
                <a:latin typeface="Open Sauce Bold"/>
                <a:ea typeface="Open Sauce Bold"/>
                <a:cs typeface="Open Sauce Bold"/>
                <a:sym typeface="Open Sauce Bold"/>
              </a:rPr>
              <a:t>Festival Offers &amp; Corporate Deals</a:t>
            </a:r>
          </a:p>
        </p:txBody>
      </p:sp>
      <p:sp>
        <p:nvSpPr>
          <p:cNvPr name="TextBox 24" id="24"/>
          <p:cNvSpPr txBox="true"/>
          <p:nvPr/>
        </p:nvSpPr>
        <p:spPr>
          <a:xfrm rot="0">
            <a:off x="11851873" y="7313804"/>
            <a:ext cx="4734489" cy="364348"/>
          </a:xfrm>
          <a:prstGeom prst="rect">
            <a:avLst/>
          </a:prstGeom>
        </p:spPr>
        <p:txBody>
          <a:bodyPr anchor="t" rtlCol="false" tIns="0" lIns="0" bIns="0" rIns="0">
            <a:spAutoFit/>
          </a:bodyPr>
          <a:lstStyle/>
          <a:p>
            <a:pPr algn="l" marL="0" indent="0" lvl="0">
              <a:lnSpc>
                <a:spcPts val="3017"/>
              </a:lnSpc>
              <a:spcBef>
                <a:spcPct val="0"/>
              </a:spcBef>
            </a:pPr>
            <a:r>
              <a:rPr lang="en-US" b="true" sz="2155">
                <a:solidFill>
                  <a:srgbClr val="0B0A0A"/>
                </a:solidFill>
                <a:latin typeface="Open Sauce Bold"/>
                <a:ea typeface="Open Sauce Bold"/>
                <a:cs typeface="Open Sauce Bold"/>
                <a:sym typeface="Open Sauce Bold"/>
              </a:rPr>
              <a:t>Local Presence &amp; Flyers</a:t>
            </a:r>
          </a:p>
        </p:txBody>
      </p:sp>
      <p:sp>
        <p:nvSpPr>
          <p:cNvPr name="Freeform 25" id="25"/>
          <p:cNvSpPr/>
          <p:nvPr/>
        </p:nvSpPr>
        <p:spPr>
          <a:xfrm flipH="false" flipV="false" rot="0">
            <a:off x="7226788" y="1384972"/>
            <a:ext cx="561013" cy="582184"/>
          </a:xfrm>
          <a:custGeom>
            <a:avLst/>
            <a:gdLst/>
            <a:ahLst/>
            <a:cxnLst/>
            <a:rect r="r" b="b" t="t" l="l"/>
            <a:pathLst>
              <a:path h="582184" w="561013">
                <a:moveTo>
                  <a:pt x="0" y="0"/>
                </a:moveTo>
                <a:lnTo>
                  <a:pt x="561013" y="0"/>
                </a:lnTo>
                <a:lnTo>
                  <a:pt x="561013" y="582184"/>
                </a:lnTo>
                <a:lnTo>
                  <a:pt x="0" y="582184"/>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26" id="26"/>
          <p:cNvSpPr/>
          <p:nvPr/>
        </p:nvSpPr>
        <p:spPr>
          <a:xfrm flipH="false" flipV="false" rot="0">
            <a:off x="9564150" y="7666229"/>
            <a:ext cx="561013" cy="582184"/>
          </a:xfrm>
          <a:custGeom>
            <a:avLst/>
            <a:gdLst/>
            <a:ahLst/>
            <a:cxnLst/>
            <a:rect r="r" b="b" t="t" l="l"/>
            <a:pathLst>
              <a:path h="582184" w="561013">
                <a:moveTo>
                  <a:pt x="0" y="0"/>
                </a:moveTo>
                <a:lnTo>
                  <a:pt x="561014" y="0"/>
                </a:lnTo>
                <a:lnTo>
                  <a:pt x="561014" y="582184"/>
                </a:lnTo>
                <a:lnTo>
                  <a:pt x="0" y="582184"/>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FBEF"/>
        </a:solidFill>
      </p:bgPr>
    </p:bg>
    <p:spTree>
      <p:nvGrpSpPr>
        <p:cNvPr id="1" name=""/>
        <p:cNvGrpSpPr/>
        <p:nvPr/>
      </p:nvGrpSpPr>
      <p:grpSpPr>
        <a:xfrm>
          <a:off x="0" y="0"/>
          <a:ext cx="0" cy="0"/>
          <a:chOff x="0" y="0"/>
          <a:chExt cx="0" cy="0"/>
        </a:xfrm>
      </p:grpSpPr>
      <p:sp>
        <p:nvSpPr>
          <p:cNvPr name="Freeform 2" id="2"/>
          <p:cNvSpPr/>
          <p:nvPr/>
        </p:nvSpPr>
        <p:spPr>
          <a:xfrm flipH="false" flipV="false" rot="0">
            <a:off x="-1282425" y="-1167330"/>
            <a:ext cx="3709729" cy="3709729"/>
          </a:xfrm>
          <a:custGeom>
            <a:avLst/>
            <a:gdLst/>
            <a:ahLst/>
            <a:cxnLst/>
            <a:rect r="r" b="b" t="t" l="l"/>
            <a:pathLst>
              <a:path h="3709729" w="3709729">
                <a:moveTo>
                  <a:pt x="0" y="0"/>
                </a:moveTo>
                <a:lnTo>
                  <a:pt x="3709729" y="0"/>
                </a:lnTo>
                <a:lnTo>
                  <a:pt x="3709729" y="3709728"/>
                </a:lnTo>
                <a:lnTo>
                  <a:pt x="0" y="37097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789190" y="1200844"/>
            <a:ext cx="12206441" cy="3107046"/>
            <a:chOff x="0" y="0"/>
            <a:chExt cx="2665878" cy="678577"/>
          </a:xfrm>
        </p:grpSpPr>
        <p:sp>
          <p:nvSpPr>
            <p:cNvPr name="Freeform 4" id="4"/>
            <p:cNvSpPr/>
            <p:nvPr/>
          </p:nvSpPr>
          <p:spPr>
            <a:xfrm flipH="false" flipV="false" rot="0">
              <a:off x="0" y="0"/>
              <a:ext cx="2665878" cy="678577"/>
            </a:xfrm>
            <a:custGeom>
              <a:avLst/>
              <a:gdLst/>
              <a:ahLst/>
              <a:cxnLst/>
              <a:rect r="r" b="b" t="t" l="l"/>
              <a:pathLst>
                <a:path h="678577" w="2665878">
                  <a:moveTo>
                    <a:pt x="28541" y="0"/>
                  </a:moveTo>
                  <a:lnTo>
                    <a:pt x="2637337" y="0"/>
                  </a:lnTo>
                  <a:cubicBezTo>
                    <a:pt x="2644906" y="0"/>
                    <a:pt x="2652166" y="3007"/>
                    <a:pt x="2657518" y="8360"/>
                  </a:cubicBezTo>
                  <a:cubicBezTo>
                    <a:pt x="2662871" y="13712"/>
                    <a:pt x="2665878" y="20972"/>
                    <a:pt x="2665878" y="28541"/>
                  </a:cubicBezTo>
                  <a:lnTo>
                    <a:pt x="2665878" y="650035"/>
                  </a:lnTo>
                  <a:cubicBezTo>
                    <a:pt x="2665878" y="657605"/>
                    <a:pt x="2662871" y="664865"/>
                    <a:pt x="2657518" y="670217"/>
                  </a:cubicBezTo>
                  <a:cubicBezTo>
                    <a:pt x="2652166" y="675570"/>
                    <a:pt x="2644906" y="678577"/>
                    <a:pt x="2637337" y="678577"/>
                  </a:cubicBezTo>
                  <a:lnTo>
                    <a:pt x="28541" y="678577"/>
                  </a:lnTo>
                  <a:cubicBezTo>
                    <a:pt x="20972" y="678577"/>
                    <a:pt x="13712" y="675570"/>
                    <a:pt x="8360" y="670217"/>
                  </a:cubicBezTo>
                  <a:cubicBezTo>
                    <a:pt x="3007" y="664865"/>
                    <a:pt x="0" y="657605"/>
                    <a:pt x="0" y="650035"/>
                  </a:cubicBezTo>
                  <a:lnTo>
                    <a:pt x="0" y="28541"/>
                  </a:lnTo>
                  <a:cubicBezTo>
                    <a:pt x="0" y="20972"/>
                    <a:pt x="3007" y="13712"/>
                    <a:pt x="8360" y="8360"/>
                  </a:cubicBezTo>
                  <a:cubicBezTo>
                    <a:pt x="13712" y="3007"/>
                    <a:pt x="20972" y="0"/>
                    <a:pt x="28541" y="0"/>
                  </a:cubicBezTo>
                  <a:close/>
                </a:path>
              </a:pathLst>
            </a:custGeom>
            <a:blipFill>
              <a:blip r:embed="rId4"/>
              <a:stretch>
                <a:fillRect l="0" t="-826" r="0" b="-826"/>
              </a:stretch>
            </a:blipFill>
          </p:spPr>
        </p:sp>
      </p:grpSp>
      <p:grpSp>
        <p:nvGrpSpPr>
          <p:cNvPr name="Group 5" id="5"/>
          <p:cNvGrpSpPr/>
          <p:nvPr/>
        </p:nvGrpSpPr>
        <p:grpSpPr>
          <a:xfrm rot="0">
            <a:off x="13916268" y="1444276"/>
            <a:ext cx="3058648" cy="3107046"/>
            <a:chOff x="0" y="0"/>
            <a:chExt cx="668006" cy="678577"/>
          </a:xfrm>
        </p:grpSpPr>
        <p:sp>
          <p:nvSpPr>
            <p:cNvPr name="Freeform 6" id="6"/>
            <p:cNvSpPr/>
            <p:nvPr/>
          </p:nvSpPr>
          <p:spPr>
            <a:xfrm flipH="false" flipV="false" rot="0">
              <a:off x="0" y="0"/>
              <a:ext cx="668006" cy="678577"/>
            </a:xfrm>
            <a:custGeom>
              <a:avLst/>
              <a:gdLst/>
              <a:ahLst/>
              <a:cxnLst/>
              <a:rect r="r" b="b" t="t" l="l"/>
              <a:pathLst>
                <a:path h="678577" w="668006">
                  <a:moveTo>
                    <a:pt x="113902" y="0"/>
                  </a:moveTo>
                  <a:lnTo>
                    <a:pt x="554104" y="0"/>
                  </a:lnTo>
                  <a:cubicBezTo>
                    <a:pt x="617011" y="0"/>
                    <a:pt x="668006" y="50996"/>
                    <a:pt x="668006" y="113902"/>
                  </a:cubicBezTo>
                  <a:lnTo>
                    <a:pt x="668006" y="564674"/>
                  </a:lnTo>
                  <a:cubicBezTo>
                    <a:pt x="668006" y="627581"/>
                    <a:pt x="617011" y="678577"/>
                    <a:pt x="554104" y="678577"/>
                  </a:cubicBezTo>
                  <a:lnTo>
                    <a:pt x="113902" y="678577"/>
                  </a:lnTo>
                  <a:cubicBezTo>
                    <a:pt x="50996" y="678577"/>
                    <a:pt x="0" y="627581"/>
                    <a:pt x="0" y="564674"/>
                  </a:cubicBezTo>
                  <a:lnTo>
                    <a:pt x="0" y="113902"/>
                  </a:lnTo>
                  <a:cubicBezTo>
                    <a:pt x="0" y="50996"/>
                    <a:pt x="50996" y="0"/>
                    <a:pt x="113902" y="0"/>
                  </a:cubicBezTo>
                  <a:close/>
                </a:path>
              </a:pathLst>
            </a:custGeom>
            <a:solidFill>
              <a:srgbClr val="FFD6F3"/>
            </a:solidFill>
          </p:spPr>
        </p:sp>
      </p:grpSp>
      <p:grpSp>
        <p:nvGrpSpPr>
          <p:cNvPr name="Group 7" id="7"/>
          <p:cNvGrpSpPr/>
          <p:nvPr/>
        </p:nvGrpSpPr>
        <p:grpSpPr>
          <a:xfrm rot="0">
            <a:off x="-193090" y="3821152"/>
            <a:ext cx="3603204" cy="1947205"/>
            <a:chOff x="0" y="0"/>
            <a:chExt cx="948992" cy="512844"/>
          </a:xfrm>
        </p:grpSpPr>
        <p:sp>
          <p:nvSpPr>
            <p:cNvPr name="Freeform 8" id="8"/>
            <p:cNvSpPr/>
            <p:nvPr/>
          </p:nvSpPr>
          <p:spPr>
            <a:xfrm flipH="false" flipV="false" rot="0">
              <a:off x="0" y="0"/>
              <a:ext cx="948992" cy="512844"/>
            </a:xfrm>
            <a:custGeom>
              <a:avLst/>
              <a:gdLst/>
              <a:ahLst/>
              <a:cxnLst/>
              <a:rect r="r" b="b" t="t" l="l"/>
              <a:pathLst>
                <a:path h="512844" w="948992">
                  <a:moveTo>
                    <a:pt x="75202" y="0"/>
                  </a:moveTo>
                  <a:lnTo>
                    <a:pt x="873790" y="0"/>
                  </a:lnTo>
                  <a:cubicBezTo>
                    <a:pt x="893735" y="0"/>
                    <a:pt x="912863" y="7923"/>
                    <a:pt x="926966" y="22026"/>
                  </a:cubicBezTo>
                  <a:cubicBezTo>
                    <a:pt x="941069" y="36129"/>
                    <a:pt x="948992" y="55257"/>
                    <a:pt x="948992" y="75202"/>
                  </a:cubicBezTo>
                  <a:lnTo>
                    <a:pt x="948992" y="437642"/>
                  </a:lnTo>
                  <a:cubicBezTo>
                    <a:pt x="948992" y="479175"/>
                    <a:pt x="915323" y="512844"/>
                    <a:pt x="873790" y="512844"/>
                  </a:cubicBezTo>
                  <a:lnTo>
                    <a:pt x="75202" y="512844"/>
                  </a:lnTo>
                  <a:cubicBezTo>
                    <a:pt x="55257" y="512844"/>
                    <a:pt x="36129" y="504921"/>
                    <a:pt x="22026" y="490818"/>
                  </a:cubicBezTo>
                  <a:cubicBezTo>
                    <a:pt x="7923" y="476715"/>
                    <a:pt x="0" y="457587"/>
                    <a:pt x="0" y="437642"/>
                  </a:cubicBezTo>
                  <a:lnTo>
                    <a:pt x="0" y="75202"/>
                  </a:lnTo>
                  <a:cubicBezTo>
                    <a:pt x="0" y="55257"/>
                    <a:pt x="7923" y="36129"/>
                    <a:pt x="22026" y="22026"/>
                  </a:cubicBezTo>
                  <a:cubicBezTo>
                    <a:pt x="36129" y="7923"/>
                    <a:pt x="55257" y="0"/>
                    <a:pt x="75202" y="0"/>
                  </a:cubicBezTo>
                  <a:close/>
                </a:path>
              </a:pathLst>
            </a:custGeom>
            <a:solidFill>
              <a:srgbClr val="FF73D8"/>
            </a:solidFill>
          </p:spPr>
        </p:sp>
        <p:sp>
          <p:nvSpPr>
            <p:cNvPr name="TextBox 9" id="9"/>
            <p:cNvSpPr txBox="true"/>
            <p:nvPr/>
          </p:nvSpPr>
          <p:spPr>
            <a:xfrm>
              <a:off x="0" y="-47625"/>
              <a:ext cx="948992" cy="560469"/>
            </a:xfrm>
            <a:prstGeom prst="rect">
              <a:avLst/>
            </a:prstGeom>
          </p:spPr>
          <p:txBody>
            <a:bodyPr anchor="ctr" rtlCol="false" tIns="50800" lIns="50800" bIns="50800" rIns="50800"/>
            <a:lstStyle/>
            <a:p>
              <a:pPr algn="ctr" marL="0" indent="0" lvl="0">
                <a:lnSpc>
                  <a:spcPts val="3359"/>
                </a:lnSpc>
              </a:pPr>
            </a:p>
          </p:txBody>
        </p:sp>
      </p:grpSp>
      <p:grpSp>
        <p:nvGrpSpPr>
          <p:cNvPr name="Group 10" id="10"/>
          <p:cNvGrpSpPr/>
          <p:nvPr/>
        </p:nvGrpSpPr>
        <p:grpSpPr>
          <a:xfrm rot="0">
            <a:off x="219666" y="4198550"/>
            <a:ext cx="705546" cy="705546"/>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2" id="12"/>
            <p:cNvSpPr txBox="true"/>
            <p:nvPr/>
          </p:nvSpPr>
          <p:spPr>
            <a:xfrm>
              <a:off x="76200" y="28575"/>
              <a:ext cx="660400" cy="708025"/>
            </a:xfrm>
            <a:prstGeom prst="rect">
              <a:avLst/>
            </a:prstGeom>
          </p:spPr>
          <p:txBody>
            <a:bodyPr anchor="ctr" rtlCol="false" tIns="50800" lIns="50800" bIns="50800" rIns="50800"/>
            <a:lstStyle/>
            <a:p>
              <a:pPr algn="ctr" marL="0" indent="0" lvl="0">
                <a:lnSpc>
                  <a:spcPts val="3359"/>
                </a:lnSpc>
              </a:pPr>
            </a:p>
          </p:txBody>
        </p:sp>
      </p:grpSp>
      <p:sp>
        <p:nvSpPr>
          <p:cNvPr name="Freeform 13" id="13"/>
          <p:cNvSpPr/>
          <p:nvPr/>
        </p:nvSpPr>
        <p:spPr>
          <a:xfrm flipH="false" flipV="false" rot="0">
            <a:off x="365743" y="4299765"/>
            <a:ext cx="413393" cy="486865"/>
          </a:xfrm>
          <a:custGeom>
            <a:avLst/>
            <a:gdLst/>
            <a:ahLst/>
            <a:cxnLst/>
            <a:rect r="r" b="b" t="t" l="l"/>
            <a:pathLst>
              <a:path h="486865" w="413393">
                <a:moveTo>
                  <a:pt x="0" y="0"/>
                </a:moveTo>
                <a:lnTo>
                  <a:pt x="413393" y="0"/>
                </a:lnTo>
                <a:lnTo>
                  <a:pt x="413393" y="486865"/>
                </a:lnTo>
                <a:lnTo>
                  <a:pt x="0" y="48686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4" id="14"/>
          <p:cNvSpPr/>
          <p:nvPr/>
        </p:nvSpPr>
        <p:spPr>
          <a:xfrm flipH="false" flipV="false" rot="0">
            <a:off x="16538607" y="6628075"/>
            <a:ext cx="3498785" cy="3498785"/>
          </a:xfrm>
          <a:custGeom>
            <a:avLst/>
            <a:gdLst/>
            <a:ahLst/>
            <a:cxnLst/>
            <a:rect r="r" b="b" t="t" l="l"/>
            <a:pathLst>
              <a:path h="3498785" w="3498785">
                <a:moveTo>
                  <a:pt x="0" y="0"/>
                </a:moveTo>
                <a:lnTo>
                  <a:pt x="3498786" y="0"/>
                </a:lnTo>
                <a:lnTo>
                  <a:pt x="3498786" y="3498785"/>
                </a:lnTo>
                <a:lnTo>
                  <a:pt x="0" y="349878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9940018" y="5151397"/>
            <a:ext cx="1230897" cy="967816"/>
          </a:xfrm>
          <a:custGeom>
            <a:avLst/>
            <a:gdLst/>
            <a:ahLst/>
            <a:cxnLst/>
            <a:rect r="r" b="b" t="t" l="l"/>
            <a:pathLst>
              <a:path h="967816" w="1230897">
                <a:moveTo>
                  <a:pt x="0" y="0"/>
                </a:moveTo>
                <a:lnTo>
                  <a:pt x="1230897" y="0"/>
                </a:lnTo>
                <a:lnTo>
                  <a:pt x="1230897" y="967816"/>
                </a:lnTo>
                <a:lnTo>
                  <a:pt x="0" y="967816"/>
                </a:lnTo>
                <a:lnTo>
                  <a:pt x="0" y="0"/>
                </a:lnTo>
                <a:close/>
              </a:path>
            </a:pathLst>
          </a:custGeom>
          <a:blipFill>
            <a:blip r:embed="rId7">
              <a:extLst>
                <a:ext uri="{96DAC541-7B7A-43D3-8B79-37D633B846F1}">
                  <asvg:svgBlip xmlns:asvg="http://schemas.microsoft.com/office/drawing/2016/SVG/main" r:embed="rId8"/>
                </a:ext>
              </a:extLst>
            </a:blip>
            <a:stretch>
              <a:fillRect l="0" t="0" r="-35952" b="-47129"/>
            </a:stretch>
          </a:blipFill>
        </p:spPr>
      </p:sp>
      <p:sp>
        <p:nvSpPr>
          <p:cNvPr name="TextBox 16" id="16"/>
          <p:cNvSpPr txBox="true"/>
          <p:nvPr/>
        </p:nvSpPr>
        <p:spPr>
          <a:xfrm rot="0">
            <a:off x="1924088" y="6195413"/>
            <a:ext cx="5628681" cy="450469"/>
          </a:xfrm>
          <a:prstGeom prst="rect">
            <a:avLst/>
          </a:prstGeom>
        </p:spPr>
        <p:txBody>
          <a:bodyPr anchor="t" rtlCol="false" tIns="0" lIns="0" bIns="0" rIns="0">
            <a:spAutoFit/>
          </a:bodyPr>
          <a:lstStyle/>
          <a:p>
            <a:pPr algn="l" marL="0" indent="0" lvl="0">
              <a:lnSpc>
                <a:spcPts val="3485"/>
              </a:lnSpc>
            </a:pPr>
            <a:r>
              <a:rPr lang="en-US" b="true" sz="3485">
                <a:solidFill>
                  <a:srgbClr val="000000"/>
                </a:solidFill>
                <a:latin typeface="Canva Sans Bold"/>
                <a:ea typeface="Canva Sans Bold"/>
                <a:cs typeface="Canva Sans Bold"/>
                <a:sym typeface="Canva Sans Bold"/>
              </a:rPr>
              <a:t>Think Like a Customer</a:t>
            </a:r>
          </a:p>
        </p:txBody>
      </p:sp>
      <p:sp>
        <p:nvSpPr>
          <p:cNvPr name="Freeform 17" id="17"/>
          <p:cNvSpPr/>
          <p:nvPr/>
        </p:nvSpPr>
        <p:spPr>
          <a:xfrm flipH="false" flipV="false" rot="0">
            <a:off x="16817456" y="493089"/>
            <a:ext cx="883689" cy="917036"/>
          </a:xfrm>
          <a:custGeom>
            <a:avLst/>
            <a:gdLst/>
            <a:ahLst/>
            <a:cxnLst/>
            <a:rect r="r" b="b" t="t" l="l"/>
            <a:pathLst>
              <a:path h="917036" w="883689">
                <a:moveTo>
                  <a:pt x="0" y="0"/>
                </a:moveTo>
                <a:lnTo>
                  <a:pt x="883688" y="0"/>
                </a:lnTo>
                <a:lnTo>
                  <a:pt x="883688" y="917036"/>
                </a:lnTo>
                <a:lnTo>
                  <a:pt x="0" y="91703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8" id="18"/>
          <p:cNvSpPr/>
          <p:nvPr/>
        </p:nvSpPr>
        <p:spPr>
          <a:xfrm flipH="false" flipV="false" rot="0">
            <a:off x="6984038" y="6403965"/>
            <a:ext cx="712773" cy="739670"/>
          </a:xfrm>
          <a:custGeom>
            <a:avLst/>
            <a:gdLst/>
            <a:ahLst/>
            <a:cxnLst/>
            <a:rect r="r" b="b" t="t" l="l"/>
            <a:pathLst>
              <a:path h="739670" w="712773">
                <a:moveTo>
                  <a:pt x="0" y="0"/>
                </a:moveTo>
                <a:lnTo>
                  <a:pt x="712773" y="0"/>
                </a:lnTo>
                <a:lnTo>
                  <a:pt x="712773" y="739670"/>
                </a:lnTo>
                <a:lnTo>
                  <a:pt x="0" y="73967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9" id="19"/>
          <p:cNvSpPr/>
          <p:nvPr/>
        </p:nvSpPr>
        <p:spPr>
          <a:xfrm flipH="false" flipV="false" rot="0">
            <a:off x="14311427" y="209510"/>
            <a:ext cx="3526431" cy="8037449"/>
          </a:xfrm>
          <a:custGeom>
            <a:avLst/>
            <a:gdLst/>
            <a:ahLst/>
            <a:cxnLst/>
            <a:rect r="r" b="b" t="t" l="l"/>
            <a:pathLst>
              <a:path h="8037449" w="3526431">
                <a:moveTo>
                  <a:pt x="0" y="0"/>
                </a:moveTo>
                <a:lnTo>
                  <a:pt x="3526431" y="0"/>
                </a:lnTo>
                <a:lnTo>
                  <a:pt x="3526431" y="8037449"/>
                </a:lnTo>
                <a:lnTo>
                  <a:pt x="0" y="8037449"/>
                </a:lnTo>
                <a:lnTo>
                  <a:pt x="0" y="0"/>
                </a:lnTo>
                <a:close/>
              </a:path>
            </a:pathLst>
          </a:custGeom>
          <a:blipFill>
            <a:blip r:embed="rId13"/>
            <a:stretch>
              <a:fillRect l="0" t="0" r="0" b="0"/>
            </a:stretch>
          </a:blipFill>
        </p:spPr>
      </p:sp>
      <p:sp>
        <p:nvSpPr>
          <p:cNvPr name="TextBox 20" id="20"/>
          <p:cNvSpPr txBox="true"/>
          <p:nvPr/>
        </p:nvSpPr>
        <p:spPr>
          <a:xfrm rot="0">
            <a:off x="8646340" y="6589975"/>
            <a:ext cx="7629944" cy="371984"/>
          </a:xfrm>
          <a:prstGeom prst="rect">
            <a:avLst/>
          </a:prstGeom>
        </p:spPr>
        <p:txBody>
          <a:bodyPr anchor="t" rtlCol="false" tIns="0" lIns="0" bIns="0" rIns="0">
            <a:spAutoFit/>
          </a:bodyPr>
          <a:lstStyle/>
          <a:p>
            <a:pPr algn="l" marL="0" indent="0" lvl="0">
              <a:lnSpc>
                <a:spcPts val="3121"/>
              </a:lnSpc>
            </a:pPr>
            <a:r>
              <a:rPr lang="en-US" b="true" sz="2229">
                <a:solidFill>
                  <a:srgbClr val="000000"/>
                </a:solidFill>
                <a:latin typeface="Open Sauce Bold"/>
                <a:ea typeface="Open Sauce Bold"/>
                <a:cs typeface="Open Sauce Bold"/>
                <a:sym typeface="Open Sauce Bold"/>
              </a:rPr>
              <a:t>Why Customers Choose Spice Garden</a:t>
            </a:r>
          </a:p>
        </p:txBody>
      </p:sp>
      <p:sp>
        <p:nvSpPr>
          <p:cNvPr name="TextBox 21" id="21"/>
          <p:cNvSpPr txBox="true"/>
          <p:nvPr/>
        </p:nvSpPr>
        <p:spPr>
          <a:xfrm rot="0">
            <a:off x="8646340" y="7105535"/>
            <a:ext cx="5953817" cy="2845859"/>
          </a:xfrm>
          <a:prstGeom prst="rect">
            <a:avLst/>
          </a:prstGeom>
        </p:spPr>
        <p:txBody>
          <a:bodyPr anchor="t" rtlCol="false" tIns="0" lIns="0" bIns="0" rIns="0">
            <a:spAutoFit/>
          </a:bodyPr>
          <a:lstStyle/>
          <a:p>
            <a:pPr algn="l" marL="0" indent="0" lvl="0">
              <a:lnSpc>
                <a:spcPts val="3266"/>
              </a:lnSpc>
            </a:pPr>
            <a:r>
              <a:rPr lang="en-US" sz="2333">
                <a:solidFill>
                  <a:srgbClr val="000000"/>
                </a:solidFill>
                <a:latin typeface="Open Sauce"/>
                <a:ea typeface="Open Sauce"/>
                <a:cs typeface="Open Sauce"/>
                <a:sym typeface="Open Sauce"/>
              </a:rPr>
              <a:t>Customers choose Spice Garden for good food affordable pricing a welcoming ambience exciting offers &amp; deals and everyday convenience. At the core every customer wants food value and experience understanding this is the foundation of great marketing.</a:t>
            </a:r>
          </a:p>
        </p:txBody>
      </p:sp>
      <p:sp>
        <p:nvSpPr>
          <p:cNvPr name="TextBox 22" id="22"/>
          <p:cNvSpPr txBox="true"/>
          <p:nvPr/>
        </p:nvSpPr>
        <p:spPr>
          <a:xfrm rot="0">
            <a:off x="1028700" y="4767580"/>
            <a:ext cx="1658870" cy="732790"/>
          </a:xfrm>
          <a:prstGeom prst="rect">
            <a:avLst/>
          </a:prstGeom>
        </p:spPr>
        <p:txBody>
          <a:bodyPr anchor="t" rtlCol="false" tIns="0" lIns="0" bIns="0" rIns="0">
            <a:spAutoFit/>
          </a:bodyPr>
          <a:lstStyle/>
          <a:p>
            <a:pPr algn="l" marL="0" indent="0" lvl="0">
              <a:lnSpc>
                <a:spcPts val="2989"/>
              </a:lnSpc>
            </a:pPr>
            <a:r>
              <a:rPr lang="en-US" sz="2299">
                <a:solidFill>
                  <a:srgbClr val="FFFFFF"/>
                </a:solidFill>
                <a:latin typeface="Open Sauce"/>
                <a:ea typeface="Open Sauce"/>
                <a:cs typeface="Open Sauce"/>
                <a:sym typeface="Open Sauce"/>
              </a:rPr>
              <a:t>Customer Lens</a:t>
            </a:r>
          </a:p>
        </p:txBody>
      </p:sp>
      <p:sp>
        <p:nvSpPr>
          <p:cNvPr name="TextBox 23" id="23"/>
          <p:cNvSpPr txBox="true"/>
          <p:nvPr/>
        </p:nvSpPr>
        <p:spPr>
          <a:xfrm rot="0">
            <a:off x="1094653" y="4190134"/>
            <a:ext cx="1733351" cy="388112"/>
          </a:xfrm>
          <a:prstGeom prst="rect">
            <a:avLst/>
          </a:prstGeom>
        </p:spPr>
        <p:txBody>
          <a:bodyPr anchor="t" rtlCol="false" tIns="0" lIns="0" bIns="0" rIns="0">
            <a:spAutoFit/>
          </a:bodyPr>
          <a:lstStyle/>
          <a:p>
            <a:pPr algn="l" marL="0" indent="0" lvl="0">
              <a:lnSpc>
                <a:spcPts val="3282"/>
              </a:lnSpc>
            </a:pPr>
            <a:r>
              <a:rPr lang="en-US" b="true" sz="2344">
                <a:solidFill>
                  <a:srgbClr val="FFFFFF"/>
                </a:solidFill>
                <a:latin typeface="Open Sauce Bold"/>
                <a:ea typeface="Open Sauce Bold"/>
                <a:cs typeface="Open Sauce Bold"/>
                <a:sym typeface="Open Sauce Bold"/>
              </a:rPr>
              <a:t>5 Reasons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FFBEF"/>
        </a:solidFill>
      </p:bgPr>
    </p:bg>
    <p:spTree>
      <p:nvGrpSpPr>
        <p:cNvPr id="1" name=""/>
        <p:cNvGrpSpPr/>
        <p:nvPr/>
      </p:nvGrpSpPr>
      <p:grpSpPr>
        <a:xfrm>
          <a:off x="0" y="0"/>
          <a:ext cx="0" cy="0"/>
          <a:chOff x="0" y="0"/>
          <a:chExt cx="0" cy="0"/>
        </a:xfrm>
      </p:grpSpPr>
      <p:sp>
        <p:nvSpPr>
          <p:cNvPr name="Freeform 2" id="2"/>
          <p:cNvSpPr/>
          <p:nvPr/>
        </p:nvSpPr>
        <p:spPr>
          <a:xfrm flipH="false" flipV="false" rot="0">
            <a:off x="14340110" y="-44368"/>
            <a:ext cx="3947890" cy="3947890"/>
          </a:xfrm>
          <a:custGeom>
            <a:avLst/>
            <a:gdLst/>
            <a:ahLst/>
            <a:cxnLst/>
            <a:rect r="r" b="b" t="t" l="l"/>
            <a:pathLst>
              <a:path h="3947890" w="3947890">
                <a:moveTo>
                  <a:pt x="0" y="0"/>
                </a:moveTo>
                <a:lnTo>
                  <a:pt x="3947890" y="0"/>
                </a:lnTo>
                <a:lnTo>
                  <a:pt x="3947890" y="3947889"/>
                </a:lnTo>
                <a:lnTo>
                  <a:pt x="0" y="39478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733019" y="1126120"/>
            <a:ext cx="5977168" cy="2577377"/>
            <a:chOff x="0" y="0"/>
            <a:chExt cx="1574234" cy="678815"/>
          </a:xfrm>
        </p:grpSpPr>
        <p:sp>
          <p:nvSpPr>
            <p:cNvPr name="Freeform 4" id="4"/>
            <p:cNvSpPr/>
            <p:nvPr/>
          </p:nvSpPr>
          <p:spPr>
            <a:xfrm flipH="false" flipV="false" rot="0">
              <a:off x="0" y="0"/>
              <a:ext cx="1574234" cy="678815"/>
            </a:xfrm>
            <a:custGeom>
              <a:avLst/>
              <a:gdLst/>
              <a:ahLst/>
              <a:cxnLst/>
              <a:rect r="r" b="b" t="t" l="l"/>
              <a:pathLst>
                <a:path h="678815" w="1574234">
                  <a:moveTo>
                    <a:pt x="66058" y="0"/>
                  </a:moveTo>
                  <a:lnTo>
                    <a:pt x="1508176" y="0"/>
                  </a:lnTo>
                  <a:cubicBezTo>
                    <a:pt x="1525695" y="0"/>
                    <a:pt x="1542498" y="6960"/>
                    <a:pt x="1554886" y="19348"/>
                  </a:cubicBezTo>
                  <a:cubicBezTo>
                    <a:pt x="1567274" y="31736"/>
                    <a:pt x="1574234" y="48538"/>
                    <a:pt x="1574234" y="66058"/>
                  </a:cubicBezTo>
                  <a:lnTo>
                    <a:pt x="1574234" y="612758"/>
                  </a:lnTo>
                  <a:cubicBezTo>
                    <a:pt x="1574234" y="649240"/>
                    <a:pt x="1544659" y="678815"/>
                    <a:pt x="1508176" y="678815"/>
                  </a:cubicBezTo>
                  <a:lnTo>
                    <a:pt x="66058" y="678815"/>
                  </a:lnTo>
                  <a:cubicBezTo>
                    <a:pt x="48538" y="678815"/>
                    <a:pt x="31736" y="671856"/>
                    <a:pt x="19348" y="659467"/>
                  </a:cubicBezTo>
                  <a:cubicBezTo>
                    <a:pt x="6960" y="647079"/>
                    <a:pt x="0" y="630277"/>
                    <a:pt x="0" y="612758"/>
                  </a:cubicBezTo>
                  <a:lnTo>
                    <a:pt x="0" y="66058"/>
                  </a:lnTo>
                  <a:cubicBezTo>
                    <a:pt x="0" y="29575"/>
                    <a:pt x="29575" y="0"/>
                    <a:pt x="66058" y="0"/>
                  </a:cubicBezTo>
                  <a:close/>
                </a:path>
              </a:pathLst>
            </a:custGeom>
            <a:solidFill>
              <a:srgbClr val="FFDE59"/>
            </a:solidFill>
          </p:spPr>
        </p:sp>
        <p:sp>
          <p:nvSpPr>
            <p:cNvPr name="TextBox 5" id="5"/>
            <p:cNvSpPr txBox="true"/>
            <p:nvPr/>
          </p:nvSpPr>
          <p:spPr>
            <a:xfrm>
              <a:off x="0" y="-47625"/>
              <a:ext cx="1574234" cy="726440"/>
            </a:xfrm>
            <a:prstGeom prst="rect">
              <a:avLst/>
            </a:prstGeom>
          </p:spPr>
          <p:txBody>
            <a:bodyPr anchor="ctr" rtlCol="false" tIns="50800" lIns="50800" bIns="50800" rIns="50800"/>
            <a:lstStyle/>
            <a:p>
              <a:pPr algn="ctr" marL="0" indent="0" lvl="0">
                <a:lnSpc>
                  <a:spcPts val="3360"/>
                </a:lnSpc>
              </a:pPr>
            </a:p>
          </p:txBody>
        </p:sp>
      </p:grpSp>
      <p:grpSp>
        <p:nvGrpSpPr>
          <p:cNvPr name="Group 6" id="6"/>
          <p:cNvGrpSpPr/>
          <p:nvPr/>
        </p:nvGrpSpPr>
        <p:grpSpPr>
          <a:xfrm rot="0">
            <a:off x="10733019" y="3903521"/>
            <a:ext cx="5977168" cy="2577377"/>
            <a:chOff x="0" y="0"/>
            <a:chExt cx="1574234" cy="678815"/>
          </a:xfrm>
        </p:grpSpPr>
        <p:sp>
          <p:nvSpPr>
            <p:cNvPr name="Freeform 7" id="7"/>
            <p:cNvSpPr/>
            <p:nvPr/>
          </p:nvSpPr>
          <p:spPr>
            <a:xfrm flipH="false" flipV="false" rot="0">
              <a:off x="0" y="0"/>
              <a:ext cx="1574234" cy="678815"/>
            </a:xfrm>
            <a:custGeom>
              <a:avLst/>
              <a:gdLst/>
              <a:ahLst/>
              <a:cxnLst/>
              <a:rect r="r" b="b" t="t" l="l"/>
              <a:pathLst>
                <a:path h="678815" w="1574234">
                  <a:moveTo>
                    <a:pt x="66058" y="0"/>
                  </a:moveTo>
                  <a:lnTo>
                    <a:pt x="1508176" y="0"/>
                  </a:lnTo>
                  <a:cubicBezTo>
                    <a:pt x="1525695" y="0"/>
                    <a:pt x="1542498" y="6960"/>
                    <a:pt x="1554886" y="19348"/>
                  </a:cubicBezTo>
                  <a:cubicBezTo>
                    <a:pt x="1567274" y="31736"/>
                    <a:pt x="1574234" y="48538"/>
                    <a:pt x="1574234" y="66058"/>
                  </a:cubicBezTo>
                  <a:lnTo>
                    <a:pt x="1574234" y="612758"/>
                  </a:lnTo>
                  <a:cubicBezTo>
                    <a:pt x="1574234" y="649240"/>
                    <a:pt x="1544659" y="678815"/>
                    <a:pt x="1508176" y="678815"/>
                  </a:cubicBezTo>
                  <a:lnTo>
                    <a:pt x="66058" y="678815"/>
                  </a:lnTo>
                  <a:cubicBezTo>
                    <a:pt x="48538" y="678815"/>
                    <a:pt x="31736" y="671856"/>
                    <a:pt x="19348" y="659467"/>
                  </a:cubicBezTo>
                  <a:cubicBezTo>
                    <a:pt x="6960" y="647079"/>
                    <a:pt x="0" y="630277"/>
                    <a:pt x="0" y="612758"/>
                  </a:cubicBezTo>
                  <a:lnTo>
                    <a:pt x="0" y="66058"/>
                  </a:lnTo>
                  <a:cubicBezTo>
                    <a:pt x="0" y="29575"/>
                    <a:pt x="29575" y="0"/>
                    <a:pt x="66058" y="0"/>
                  </a:cubicBezTo>
                  <a:close/>
                </a:path>
              </a:pathLst>
            </a:custGeom>
            <a:solidFill>
              <a:srgbClr val="FF73D8"/>
            </a:solidFill>
          </p:spPr>
        </p:sp>
        <p:sp>
          <p:nvSpPr>
            <p:cNvPr name="TextBox 8" id="8"/>
            <p:cNvSpPr txBox="true"/>
            <p:nvPr/>
          </p:nvSpPr>
          <p:spPr>
            <a:xfrm>
              <a:off x="0" y="-47625"/>
              <a:ext cx="1574234" cy="726440"/>
            </a:xfrm>
            <a:prstGeom prst="rect">
              <a:avLst/>
            </a:prstGeom>
          </p:spPr>
          <p:txBody>
            <a:bodyPr anchor="ctr" rtlCol="false" tIns="50800" lIns="50800" bIns="50800" rIns="50800"/>
            <a:lstStyle/>
            <a:p>
              <a:pPr algn="ctr" marL="0" indent="0" lvl="0">
                <a:lnSpc>
                  <a:spcPts val="3360"/>
                </a:lnSpc>
              </a:pPr>
            </a:p>
          </p:txBody>
        </p:sp>
      </p:grpSp>
      <p:grpSp>
        <p:nvGrpSpPr>
          <p:cNvPr name="Group 9" id="9"/>
          <p:cNvGrpSpPr/>
          <p:nvPr/>
        </p:nvGrpSpPr>
        <p:grpSpPr>
          <a:xfrm rot="0">
            <a:off x="10733019" y="6680923"/>
            <a:ext cx="5977168" cy="2577377"/>
            <a:chOff x="0" y="0"/>
            <a:chExt cx="1574234" cy="678815"/>
          </a:xfrm>
        </p:grpSpPr>
        <p:sp>
          <p:nvSpPr>
            <p:cNvPr name="Freeform 10" id="10"/>
            <p:cNvSpPr/>
            <p:nvPr/>
          </p:nvSpPr>
          <p:spPr>
            <a:xfrm flipH="false" flipV="false" rot="0">
              <a:off x="0" y="0"/>
              <a:ext cx="1574234" cy="678815"/>
            </a:xfrm>
            <a:custGeom>
              <a:avLst/>
              <a:gdLst/>
              <a:ahLst/>
              <a:cxnLst/>
              <a:rect r="r" b="b" t="t" l="l"/>
              <a:pathLst>
                <a:path h="678815" w="1574234">
                  <a:moveTo>
                    <a:pt x="66058" y="0"/>
                  </a:moveTo>
                  <a:lnTo>
                    <a:pt x="1508176" y="0"/>
                  </a:lnTo>
                  <a:cubicBezTo>
                    <a:pt x="1525695" y="0"/>
                    <a:pt x="1542498" y="6960"/>
                    <a:pt x="1554886" y="19348"/>
                  </a:cubicBezTo>
                  <a:cubicBezTo>
                    <a:pt x="1567274" y="31736"/>
                    <a:pt x="1574234" y="48538"/>
                    <a:pt x="1574234" y="66058"/>
                  </a:cubicBezTo>
                  <a:lnTo>
                    <a:pt x="1574234" y="612758"/>
                  </a:lnTo>
                  <a:cubicBezTo>
                    <a:pt x="1574234" y="649240"/>
                    <a:pt x="1544659" y="678815"/>
                    <a:pt x="1508176" y="678815"/>
                  </a:cubicBezTo>
                  <a:lnTo>
                    <a:pt x="66058" y="678815"/>
                  </a:lnTo>
                  <a:cubicBezTo>
                    <a:pt x="48538" y="678815"/>
                    <a:pt x="31736" y="671856"/>
                    <a:pt x="19348" y="659467"/>
                  </a:cubicBezTo>
                  <a:cubicBezTo>
                    <a:pt x="6960" y="647079"/>
                    <a:pt x="0" y="630277"/>
                    <a:pt x="0" y="612758"/>
                  </a:cubicBezTo>
                  <a:lnTo>
                    <a:pt x="0" y="66058"/>
                  </a:lnTo>
                  <a:cubicBezTo>
                    <a:pt x="0" y="29575"/>
                    <a:pt x="29575" y="0"/>
                    <a:pt x="66058" y="0"/>
                  </a:cubicBezTo>
                  <a:close/>
                </a:path>
              </a:pathLst>
            </a:custGeom>
            <a:solidFill>
              <a:srgbClr val="FFDE59"/>
            </a:solidFill>
          </p:spPr>
        </p:sp>
        <p:sp>
          <p:nvSpPr>
            <p:cNvPr name="TextBox 11" id="11"/>
            <p:cNvSpPr txBox="true"/>
            <p:nvPr/>
          </p:nvSpPr>
          <p:spPr>
            <a:xfrm>
              <a:off x="0" y="-47625"/>
              <a:ext cx="1574234" cy="726440"/>
            </a:xfrm>
            <a:prstGeom prst="rect">
              <a:avLst/>
            </a:prstGeom>
          </p:spPr>
          <p:txBody>
            <a:bodyPr anchor="ctr" rtlCol="false" tIns="50800" lIns="50800" bIns="50800" rIns="50800"/>
            <a:lstStyle/>
            <a:p>
              <a:pPr algn="ctr" marL="0" indent="0" lvl="0">
                <a:lnSpc>
                  <a:spcPts val="3360"/>
                </a:lnSpc>
              </a:pPr>
            </a:p>
          </p:txBody>
        </p:sp>
      </p:grpSp>
      <p:sp>
        <p:nvSpPr>
          <p:cNvPr name="Freeform 12" id="12"/>
          <p:cNvSpPr/>
          <p:nvPr/>
        </p:nvSpPr>
        <p:spPr>
          <a:xfrm flipH="false" flipV="false" rot="0">
            <a:off x="11057323" y="2178952"/>
            <a:ext cx="476894" cy="476894"/>
          </a:xfrm>
          <a:custGeom>
            <a:avLst/>
            <a:gdLst/>
            <a:ahLst/>
            <a:cxnLst/>
            <a:rect r="r" b="b" t="t" l="l"/>
            <a:pathLst>
              <a:path h="476894" w="476894">
                <a:moveTo>
                  <a:pt x="0" y="0"/>
                </a:moveTo>
                <a:lnTo>
                  <a:pt x="476893" y="0"/>
                </a:lnTo>
                <a:lnTo>
                  <a:pt x="476893" y="476894"/>
                </a:lnTo>
                <a:lnTo>
                  <a:pt x="0" y="47689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11057323" y="4905053"/>
            <a:ext cx="476894" cy="476894"/>
          </a:xfrm>
          <a:custGeom>
            <a:avLst/>
            <a:gdLst/>
            <a:ahLst/>
            <a:cxnLst/>
            <a:rect r="r" b="b" t="t" l="l"/>
            <a:pathLst>
              <a:path h="476894" w="476894">
                <a:moveTo>
                  <a:pt x="0" y="0"/>
                </a:moveTo>
                <a:lnTo>
                  <a:pt x="476893" y="0"/>
                </a:lnTo>
                <a:lnTo>
                  <a:pt x="476893" y="476894"/>
                </a:lnTo>
                <a:lnTo>
                  <a:pt x="0" y="47689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false" flipV="false" rot="0">
            <a:off x="11057323" y="7758852"/>
            <a:ext cx="476894" cy="476894"/>
          </a:xfrm>
          <a:custGeom>
            <a:avLst/>
            <a:gdLst/>
            <a:ahLst/>
            <a:cxnLst/>
            <a:rect r="r" b="b" t="t" l="l"/>
            <a:pathLst>
              <a:path h="476894" w="476894">
                <a:moveTo>
                  <a:pt x="0" y="0"/>
                </a:moveTo>
                <a:lnTo>
                  <a:pt x="476893" y="0"/>
                </a:lnTo>
                <a:lnTo>
                  <a:pt x="476893" y="476894"/>
                </a:lnTo>
                <a:lnTo>
                  <a:pt x="0" y="47689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5" id="15"/>
          <p:cNvSpPr/>
          <p:nvPr/>
        </p:nvSpPr>
        <p:spPr>
          <a:xfrm flipH="false" flipV="false" rot="0">
            <a:off x="-1419664" y="4324557"/>
            <a:ext cx="2569235" cy="2569235"/>
          </a:xfrm>
          <a:custGeom>
            <a:avLst/>
            <a:gdLst/>
            <a:ahLst/>
            <a:cxnLst/>
            <a:rect r="r" b="b" t="t" l="l"/>
            <a:pathLst>
              <a:path h="2569235" w="2569235">
                <a:moveTo>
                  <a:pt x="0" y="0"/>
                </a:moveTo>
                <a:lnTo>
                  <a:pt x="2569235" y="0"/>
                </a:lnTo>
                <a:lnTo>
                  <a:pt x="2569235" y="2569235"/>
                </a:lnTo>
                <a:lnTo>
                  <a:pt x="0" y="25692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0">
            <a:off x="8359708" y="5513083"/>
            <a:ext cx="1230897" cy="967816"/>
          </a:xfrm>
          <a:custGeom>
            <a:avLst/>
            <a:gdLst/>
            <a:ahLst/>
            <a:cxnLst/>
            <a:rect r="r" b="b" t="t" l="l"/>
            <a:pathLst>
              <a:path h="967816" w="1230897">
                <a:moveTo>
                  <a:pt x="0" y="0"/>
                </a:moveTo>
                <a:lnTo>
                  <a:pt x="1230897" y="0"/>
                </a:lnTo>
                <a:lnTo>
                  <a:pt x="1230897" y="967815"/>
                </a:lnTo>
                <a:lnTo>
                  <a:pt x="0" y="967815"/>
                </a:lnTo>
                <a:lnTo>
                  <a:pt x="0" y="0"/>
                </a:lnTo>
                <a:close/>
              </a:path>
            </a:pathLst>
          </a:custGeom>
          <a:blipFill>
            <a:blip r:embed="rId8">
              <a:extLst>
                <a:ext uri="{96DAC541-7B7A-43D3-8B79-37D633B846F1}">
                  <asvg:svgBlip xmlns:asvg="http://schemas.microsoft.com/office/drawing/2016/SVG/main" r:embed="rId9"/>
                </a:ext>
              </a:extLst>
            </a:blip>
            <a:stretch>
              <a:fillRect l="0" t="0" r="-35952" b="-47129"/>
            </a:stretch>
          </a:blipFill>
        </p:spPr>
      </p:sp>
      <p:sp>
        <p:nvSpPr>
          <p:cNvPr name="Freeform 17" id="17"/>
          <p:cNvSpPr/>
          <p:nvPr/>
        </p:nvSpPr>
        <p:spPr>
          <a:xfrm flipH="false" flipV="false" rot="0">
            <a:off x="1375276" y="5048973"/>
            <a:ext cx="5499222" cy="5052410"/>
          </a:xfrm>
          <a:custGeom>
            <a:avLst/>
            <a:gdLst/>
            <a:ahLst/>
            <a:cxnLst/>
            <a:rect r="r" b="b" t="t" l="l"/>
            <a:pathLst>
              <a:path h="5052410" w="5499222">
                <a:moveTo>
                  <a:pt x="0" y="0"/>
                </a:moveTo>
                <a:lnTo>
                  <a:pt x="5499222" y="0"/>
                </a:lnTo>
                <a:lnTo>
                  <a:pt x="5499222" y="5052410"/>
                </a:lnTo>
                <a:lnTo>
                  <a:pt x="0" y="5052410"/>
                </a:lnTo>
                <a:lnTo>
                  <a:pt x="0" y="0"/>
                </a:lnTo>
                <a:close/>
              </a:path>
            </a:pathLst>
          </a:custGeom>
          <a:blipFill>
            <a:blip r:embed="rId10"/>
            <a:stretch>
              <a:fillRect l="0" t="0" r="0" b="0"/>
            </a:stretch>
          </a:blipFill>
        </p:spPr>
      </p:sp>
      <p:sp>
        <p:nvSpPr>
          <p:cNvPr name="TextBox 18" id="18"/>
          <p:cNvSpPr txBox="true"/>
          <p:nvPr/>
        </p:nvSpPr>
        <p:spPr>
          <a:xfrm rot="0">
            <a:off x="1701061" y="1577771"/>
            <a:ext cx="4727060" cy="1772920"/>
          </a:xfrm>
          <a:prstGeom prst="rect">
            <a:avLst/>
          </a:prstGeom>
        </p:spPr>
        <p:txBody>
          <a:bodyPr anchor="t" rtlCol="false" tIns="0" lIns="0" bIns="0" rIns="0">
            <a:spAutoFit/>
          </a:bodyPr>
          <a:lstStyle/>
          <a:p>
            <a:pPr algn="l" marL="0" indent="0" lvl="0">
              <a:lnSpc>
                <a:spcPts val="6800"/>
              </a:lnSpc>
            </a:pPr>
            <a:r>
              <a:rPr lang="en-US" b="true" sz="6800" spc="-374">
                <a:solidFill>
                  <a:srgbClr val="000000"/>
                </a:solidFill>
                <a:latin typeface="Canva Sans Bold"/>
                <a:ea typeface="Canva Sans Bold"/>
                <a:cs typeface="Canva Sans Bold"/>
                <a:sym typeface="Canva Sans Bold"/>
              </a:rPr>
              <a:t>Identifying Customers</a:t>
            </a:r>
          </a:p>
        </p:txBody>
      </p:sp>
      <p:sp>
        <p:nvSpPr>
          <p:cNvPr name="TextBox 19" id="19"/>
          <p:cNvSpPr txBox="true"/>
          <p:nvPr/>
        </p:nvSpPr>
        <p:spPr>
          <a:xfrm rot="0">
            <a:off x="1701061" y="3865421"/>
            <a:ext cx="5525727" cy="348067"/>
          </a:xfrm>
          <a:prstGeom prst="rect">
            <a:avLst/>
          </a:prstGeom>
        </p:spPr>
        <p:txBody>
          <a:bodyPr anchor="t" rtlCol="false" tIns="0" lIns="0" bIns="0" rIns="0">
            <a:spAutoFit/>
          </a:bodyPr>
          <a:lstStyle/>
          <a:p>
            <a:pPr algn="l" marL="0" indent="0" lvl="0">
              <a:lnSpc>
                <a:spcPts val="2865"/>
              </a:lnSpc>
              <a:spcBef>
                <a:spcPct val="0"/>
              </a:spcBef>
            </a:pPr>
            <a:r>
              <a:rPr lang="en-US" b="true" sz="2046">
                <a:solidFill>
                  <a:srgbClr val="0B0A0A"/>
                </a:solidFill>
                <a:latin typeface="Open Sauce Bold"/>
                <a:ea typeface="Open Sauce Bold"/>
                <a:cs typeface="Open Sauce Bold"/>
                <a:sym typeface="Open Sauce Bold"/>
              </a:rPr>
              <a:t>Who walks through Spice Garden's doors?</a:t>
            </a:r>
          </a:p>
        </p:txBody>
      </p:sp>
      <p:sp>
        <p:nvSpPr>
          <p:cNvPr name="TextBox 20" id="20"/>
          <p:cNvSpPr txBox="true"/>
          <p:nvPr/>
        </p:nvSpPr>
        <p:spPr>
          <a:xfrm rot="0">
            <a:off x="11851873" y="2328141"/>
            <a:ext cx="4281960" cy="990037"/>
          </a:xfrm>
          <a:prstGeom prst="rect">
            <a:avLst/>
          </a:prstGeom>
        </p:spPr>
        <p:txBody>
          <a:bodyPr anchor="t" rtlCol="false" tIns="0" lIns="0" bIns="0" rIns="0">
            <a:spAutoFit/>
          </a:bodyPr>
          <a:lstStyle/>
          <a:p>
            <a:pPr algn="l" marL="0" indent="0" lvl="0">
              <a:lnSpc>
                <a:spcPts val="2656"/>
              </a:lnSpc>
            </a:pPr>
            <a:r>
              <a:rPr lang="en-US" sz="1897">
                <a:solidFill>
                  <a:srgbClr val="0B0A0A"/>
                </a:solidFill>
                <a:latin typeface="Open Sauce"/>
                <a:ea typeface="Open Sauce"/>
                <a:cs typeface="Open Sauce"/>
                <a:sym typeface="Open Sauce"/>
              </a:rPr>
              <a:t>Students seek affordable meals families look for comfort variety and a welcoming dining experience.</a:t>
            </a:r>
          </a:p>
        </p:txBody>
      </p:sp>
      <p:sp>
        <p:nvSpPr>
          <p:cNvPr name="TextBox 21" id="21"/>
          <p:cNvSpPr txBox="true"/>
          <p:nvPr/>
        </p:nvSpPr>
        <p:spPr>
          <a:xfrm rot="0">
            <a:off x="11851873" y="5010873"/>
            <a:ext cx="4281960" cy="1323412"/>
          </a:xfrm>
          <a:prstGeom prst="rect">
            <a:avLst/>
          </a:prstGeom>
        </p:spPr>
        <p:txBody>
          <a:bodyPr anchor="t" rtlCol="false" tIns="0" lIns="0" bIns="0" rIns="0">
            <a:spAutoFit/>
          </a:bodyPr>
          <a:lstStyle/>
          <a:p>
            <a:pPr algn="l" marL="0" indent="0" lvl="0">
              <a:lnSpc>
                <a:spcPts val="2656"/>
              </a:lnSpc>
            </a:pPr>
            <a:r>
              <a:rPr lang="en-US" sz="1897">
                <a:solidFill>
                  <a:srgbClr val="FFFFFF"/>
                </a:solidFill>
                <a:latin typeface="Open Sauce"/>
                <a:ea typeface="Open Sauce"/>
                <a:cs typeface="Open Sauce"/>
                <a:sym typeface="Open Sauce"/>
              </a:rPr>
              <a:t>Office employees need quick meals during breaks couples value ambience, experience and special offers.</a:t>
            </a:r>
          </a:p>
        </p:txBody>
      </p:sp>
      <p:sp>
        <p:nvSpPr>
          <p:cNvPr name="TextBox 22" id="22"/>
          <p:cNvSpPr txBox="true"/>
          <p:nvPr/>
        </p:nvSpPr>
        <p:spPr>
          <a:xfrm rot="0">
            <a:off x="11851873" y="7720752"/>
            <a:ext cx="4281960" cy="990037"/>
          </a:xfrm>
          <a:prstGeom prst="rect">
            <a:avLst/>
          </a:prstGeom>
        </p:spPr>
        <p:txBody>
          <a:bodyPr anchor="t" rtlCol="false" tIns="0" lIns="0" bIns="0" rIns="0">
            <a:spAutoFit/>
          </a:bodyPr>
          <a:lstStyle/>
          <a:p>
            <a:pPr algn="l" marL="0" indent="0" lvl="0">
              <a:lnSpc>
                <a:spcPts val="2656"/>
              </a:lnSpc>
            </a:pPr>
            <a:r>
              <a:rPr lang="en-US" sz="1897">
                <a:solidFill>
                  <a:srgbClr val="0B0A0A"/>
                </a:solidFill>
                <a:latin typeface="Open Sauce"/>
                <a:ea typeface="Open Sauce"/>
                <a:cs typeface="Open Sauce"/>
                <a:sym typeface="Open Sauce"/>
              </a:rPr>
              <a:t>Event organizers and corporate clients require bulk orders packages and reliable large-group catering.</a:t>
            </a:r>
          </a:p>
        </p:txBody>
      </p:sp>
      <p:sp>
        <p:nvSpPr>
          <p:cNvPr name="TextBox 23" id="23"/>
          <p:cNvSpPr txBox="true"/>
          <p:nvPr/>
        </p:nvSpPr>
        <p:spPr>
          <a:xfrm rot="0">
            <a:off x="11851873" y="1771291"/>
            <a:ext cx="4734489" cy="348067"/>
          </a:xfrm>
          <a:prstGeom prst="rect">
            <a:avLst/>
          </a:prstGeom>
        </p:spPr>
        <p:txBody>
          <a:bodyPr anchor="t" rtlCol="false" tIns="0" lIns="0" bIns="0" rIns="0">
            <a:spAutoFit/>
          </a:bodyPr>
          <a:lstStyle/>
          <a:p>
            <a:pPr algn="l" marL="0" indent="0" lvl="0">
              <a:lnSpc>
                <a:spcPts val="2865"/>
              </a:lnSpc>
              <a:spcBef>
                <a:spcPct val="0"/>
              </a:spcBef>
            </a:pPr>
            <a:r>
              <a:rPr lang="en-US" b="true" sz="2046">
                <a:solidFill>
                  <a:srgbClr val="0B0A0A"/>
                </a:solidFill>
                <a:latin typeface="Open Sauce Bold"/>
                <a:ea typeface="Open Sauce Bold"/>
                <a:cs typeface="Open Sauce Bold"/>
                <a:sym typeface="Open Sauce Bold"/>
              </a:rPr>
              <a:t>Students &amp; Families</a:t>
            </a:r>
          </a:p>
        </p:txBody>
      </p:sp>
      <p:sp>
        <p:nvSpPr>
          <p:cNvPr name="TextBox 24" id="24"/>
          <p:cNvSpPr txBox="true"/>
          <p:nvPr/>
        </p:nvSpPr>
        <p:spPr>
          <a:xfrm rot="0">
            <a:off x="11851873" y="4499983"/>
            <a:ext cx="4062450" cy="348067"/>
          </a:xfrm>
          <a:prstGeom prst="rect">
            <a:avLst/>
          </a:prstGeom>
        </p:spPr>
        <p:txBody>
          <a:bodyPr anchor="t" rtlCol="false" tIns="0" lIns="0" bIns="0" rIns="0">
            <a:spAutoFit/>
          </a:bodyPr>
          <a:lstStyle/>
          <a:p>
            <a:pPr algn="l" marL="0" indent="0" lvl="0">
              <a:lnSpc>
                <a:spcPts val="2865"/>
              </a:lnSpc>
              <a:spcBef>
                <a:spcPct val="0"/>
              </a:spcBef>
            </a:pPr>
            <a:r>
              <a:rPr lang="en-US" b="true" sz="2046">
                <a:solidFill>
                  <a:srgbClr val="FFFFFF"/>
                </a:solidFill>
                <a:latin typeface="Open Sauce Bold"/>
                <a:ea typeface="Open Sauce Bold"/>
                <a:cs typeface="Open Sauce Bold"/>
                <a:sym typeface="Open Sauce Bold"/>
              </a:rPr>
              <a:t>Office Employees &amp; Couples</a:t>
            </a:r>
          </a:p>
        </p:txBody>
      </p:sp>
      <p:sp>
        <p:nvSpPr>
          <p:cNvPr name="TextBox 25" id="25"/>
          <p:cNvSpPr txBox="true"/>
          <p:nvPr/>
        </p:nvSpPr>
        <p:spPr>
          <a:xfrm rot="0">
            <a:off x="11851873" y="7313804"/>
            <a:ext cx="4734489" cy="348067"/>
          </a:xfrm>
          <a:prstGeom prst="rect">
            <a:avLst/>
          </a:prstGeom>
        </p:spPr>
        <p:txBody>
          <a:bodyPr anchor="t" rtlCol="false" tIns="0" lIns="0" bIns="0" rIns="0">
            <a:spAutoFit/>
          </a:bodyPr>
          <a:lstStyle/>
          <a:p>
            <a:pPr algn="l" marL="0" indent="0" lvl="0">
              <a:lnSpc>
                <a:spcPts val="2865"/>
              </a:lnSpc>
              <a:spcBef>
                <a:spcPct val="0"/>
              </a:spcBef>
            </a:pPr>
            <a:r>
              <a:rPr lang="en-US" b="true" sz="2046">
                <a:solidFill>
                  <a:srgbClr val="0B0A0A"/>
                </a:solidFill>
                <a:latin typeface="Open Sauce Bold"/>
                <a:ea typeface="Open Sauce Bold"/>
                <a:cs typeface="Open Sauce Bold"/>
                <a:sym typeface="Open Sauce Bold"/>
              </a:rPr>
              <a:t>Event Organizers &amp; Corporates</a:t>
            </a:r>
          </a:p>
        </p:txBody>
      </p:sp>
      <p:sp>
        <p:nvSpPr>
          <p:cNvPr name="Freeform 26" id="26"/>
          <p:cNvSpPr/>
          <p:nvPr/>
        </p:nvSpPr>
        <p:spPr>
          <a:xfrm flipH="false" flipV="false" rot="0">
            <a:off x="7226788" y="1384972"/>
            <a:ext cx="561013" cy="582184"/>
          </a:xfrm>
          <a:custGeom>
            <a:avLst/>
            <a:gdLst/>
            <a:ahLst/>
            <a:cxnLst/>
            <a:rect r="r" b="b" t="t" l="l"/>
            <a:pathLst>
              <a:path h="582184" w="561013">
                <a:moveTo>
                  <a:pt x="0" y="0"/>
                </a:moveTo>
                <a:lnTo>
                  <a:pt x="561013" y="0"/>
                </a:lnTo>
                <a:lnTo>
                  <a:pt x="561013" y="582184"/>
                </a:lnTo>
                <a:lnTo>
                  <a:pt x="0" y="582184"/>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27" id="27"/>
          <p:cNvSpPr/>
          <p:nvPr/>
        </p:nvSpPr>
        <p:spPr>
          <a:xfrm flipH="false" flipV="false" rot="0">
            <a:off x="9564150" y="7666229"/>
            <a:ext cx="561013" cy="582184"/>
          </a:xfrm>
          <a:custGeom>
            <a:avLst/>
            <a:gdLst/>
            <a:ahLst/>
            <a:cxnLst/>
            <a:rect r="r" b="b" t="t" l="l"/>
            <a:pathLst>
              <a:path h="582184" w="561013">
                <a:moveTo>
                  <a:pt x="0" y="0"/>
                </a:moveTo>
                <a:lnTo>
                  <a:pt x="561014" y="0"/>
                </a:lnTo>
                <a:lnTo>
                  <a:pt x="561014" y="582184"/>
                </a:lnTo>
                <a:lnTo>
                  <a:pt x="0" y="582184"/>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FBEF"/>
        </a:solidFill>
      </p:bgPr>
    </p:bg>
    <p:spTree>
      <p:nvGrpSpPr>
        <p:cNvPr id="1" name=""/>
        <p:cNvGrpSpPr/>
        <p:nvPr/>
      </p:nvGrpSpPr>
      <p:grpSpPr>
        <a:xfrm>
          <a:off x="0" y="0"/>
          <a:ext cx="0" cy="0"/>
          <a:chOff x="0" y="0"/>
          <a:chExt cx="0" cy="0"/>
        </a:xfrm>
      </p:grpSpPr>
      <p:sp>
        <p:nvSpPr>
          <p:cNvPr name="Freeform 2" id="2"/>
          <p:cNvSpPr/>
          <p:nvPr/>
        </p:nvSpPr>
        <p:spPr>
          <a:xfrm flipH="false" flipV="false" rot="0">
            <a:off x="8446629" y="-12842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9857481" y="1028700"/>
            <a:ext cx="9940986" cy="3644748"/>
            <a:chOff x="0" y="0"/>
            <a:chExt cx="1108449" cy="406400"/>
          </a:xfrm>
        </p:grpSpPr>
        <p:sp>
          <p:nvSpPr>
            <p:cNvPr name="Freeform 4" id="4"/>
            <p:cNvSpPr/>
            <p:nvPr/>
          </p:nvSpPr>
          <p:spPr>
            <a:xfrm flipH="false" flipV="false" rot="0">
              <a:off x="0" y="0"/>
              <a:ext cx="1108449" cy="406400"/>
            </a:xfrm>
            <a:custGeom>
              <a:avLst/>
              <a:gdLst/>
              <a:ahLst/>
              <a:cxnLst/>
              <a:rect r="r" b="b" t="t" l="l"/>
              <a:pathLst>
                <a:path h="406400" w="1108449">
                  <a:moveTo>
                    <a:pt x="905249" y="0"/>
                  </a:moveTo>
                  <a:cubicBezTo>
                    <a:pt x="1017479" y="0"/>
                    <a:pt x="1108449" y="90970"/>
                    <a:pt x="1108449" y="203200"/>
                  </a:cubicBezTo>
                  <a:cubicBezTo>
                    <a:pt x="1108449" y="315430"/>
                    <a:pt x="1017479" y="406400"/>
                    <a:pt x="905249" y="406400"/>
                  </a:cubicBezTo>
                  <a:lnTo>
                    <a:pt x="203200" y="406400"/>
                  </a:lnTo>
                  <a:cubicBezTo>
                    <a:pt x="90970" y="406400"/>
                    <a:pt x="0" y="315430"/>
                    <a:pt x="0" y="203200"/>
                  </a:cubicBezTo>
                  <a:cubicBezTo>
                    <a:pt x="0" y="90970"/>
                    <a:pt x="90970" y="0"/>
                    <a:pt x="203200" y="0"/>
                  </a:cubicBezTo>
                  <a:lnTo>
                    <a:pt x="905249" y="0"/>
                  </a:lnTo>
                </a:path>
              </a:pathLst>
            </a:custGeom>
            <a:blipFill>
              <a:blip r:embed="rId4"/>
              <a:stretch>
                <a:fillRect l="0" t="-117" r="0" b="-117"/>
              </a:stretch>
            </a:blipFill>
          </p:spPr>
        </p:sp>
      </p:grpSp>
      <p:grpSp>
        <p:nvGrpSpPr>
          <p:cNvPr name="Group 5" id="5"/>
          <p:cNvGrpSpPr/>
          <p:nvPr/>
        </p:nvGrpSpPr>
        <p:grpSpPr>
          <a:xfrm rot="0">
            <a:off x="-1537218" y="5613552"/>
            <a:ext cx="7608345" cy="3644748"/>
            <a:chOff x="0" y="0"/>
            <a:chExt cx="848353" cy="406400"/>
          </a:xfrm>
        </p:grpSpPr>
        <p:sp>
          <p:nvSpPr>
            <p:cNvPr name="Freeform 6" id="6"/>
            <p:cNvSpPr/>
            <p:nvPr/>
          </p:nvSpPr>
          <p:spPr>
            <a:xfrm flipH="false" flipV="false" rot="0">
              <a:off x="0" y="0"/>
              <a:ext cx="848353" cy="406400"/>
            </a:xfrm>
            <a:custGeom>
              <a:avLst/>
              <a:gdLst/>
              <a:ahLst/>
              <a:cxnLst/>
              <a:rect r="r" b="b" t="t" l="l"/>
              <a:pathLst>
                <a:path h="406400" w="848353">
                  <a:moveTo>
                    <a:pt x="645153" y="0"/>
                  </a:moveTo>
                  <a:cubicBezTo>
                    <a:pt x="757383" y="0"/>
                    <a:pt x="848353" y="90970"/>
                    <a:pt x="848353" y="203200"/>
                  </a:cubicBezTo>
                  <a:cubicBezTo>
                    <a:pt x="848353" y="315430"/>
                    <a:pt x="757383" y="406400"/>
                    <a:pt x="645153" y="406400"/>
                  </a:cubicBezTo>
                  <a:lnTo>
                    <a:pt x="203200" y="406400"/>
                  </a:lnTo>
                  <a:cubicBezTo>
                    <a:pt x="90970" y="406400"/>
                    <a:pt x="0" y="315430"/>
                    <a:pt x="0" y="203200"/>
                  </a:cubicBezTo>
                  <a:cubicBezTo>
                    <a:pt x="0" y="90970"/>
                    <a:pt x="90970" y="0"/>
                    <a:pt x="203200" y="0"/>
                  </a:cubicBezTo>
                  <a:lnTo>
                    <a:pt x="645153" y="0"/>
                  </a:lnTo>
                </a:path>
              </a:pathLst>
            </a:custGeom>
            <a:solidFill>
              <a:srgbClr val="FFD6F3"/>
            </a:solidFill>
          </p:spPr>
        </p:sp>
      </p:grpSp>
      <p:sp>
        <p:nvSpPr>
          <p:cNvPr name="Freeform 7" id="7"/>
          <p:cNvSpPr/>
          <p:nvPr/>
        </p:nvSpPr>
        <p:spPr>
          <a:xfrm flipH="false" flipV="false" rot="0">
            <a:off x="16948891" y="7304759"/>
            <a:ext cx="2678217" cy="2678217"/>
          </a:xfrm>
          <a:custGeom>
            <a:avLst/>
            <a:gdLst/>
            <a:ahLst/>
            <a:cxnLst/>
            <a:rect r="r" b="b" t="t" l="l"/>
            <a:pathLst>
              <a:path h="2678217" w="2678217">
                <a:moveTo>
                  <a:pt x="0" y="0"/>
                </a:moveTo>
                <a:lnTo>
                  <a:pt x="2678218" y="0"/>
                </a:lnTo>
                <a:lnTo>
                  <a:pt x="2678218" y="2678217"/>
                </a:lnTo>
                <a:lnTo>
                  <a:pt x="0" y="267821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7411705" y="4798758"/>
            <a:ext cx="1230897" cy="967816"/>
          </a:xfrm>
          <a:custGeom>
            <a:avLst/>
            <a:gdLst/>
            <a:ahLst/>
            <a:cxnLst/>
            <a:rect r="r" b="b" t="t" l="l"/>
            <a:pathLst>
              <a:path h="967816" w="1230897">
                <a:moveTo>
                  <a:pt x="0" y="0"/>
                </a:moveTo>
                <a:lnTo>
                  <a:pt x="1230897" y="0"/>
                </a:lnTo>
                <a:lnTo>
                  <a:pt x="1230897" y="967815"/>
                </a:lnTo>
                <a:lnTo>
                  <a:pt x="0" y="967815"/>
                </a:lnTo>
                <a:lnTo>
                  <a:pt x="0" y="0"/>
                </a:lnTo>
                <a:close/>
              </a:path>
            </a:pathLst>
          </a:custGeom>
          <a:blipFill>
            <a:blip r:embed="rId5">
              <a:extLst>
                <a:ext uri="{96DAC541-7B7A-43D3-8B79-37D633B846F1}">
                  <asvg:svgBlip xmlns:asvg="http://schemas.microsoft.com/office/drawing/2016/SVG/main" r:embed="rId6"/>
                </a:ext>
              </a:extLst>
            </a:blip>
            <a:stretch>
              <a:fillRect l="0" t="0" r="-35952" b="-47129"/>
            </a:stretch>
          </a:blipFill>
        </p:spPr>
      </p:sp>
      <p:sp>
        <p:nvSpPr>
          <p:cNvPr name="Freeform 9" id="9"/>
          <p:cNvSpPr/>
          <p:nvPr/>
        </p:nvSpPr>
        <p:spPr>
          <a:xfrm flipH="false" flipV="false" rot="0">
            <a:off x="177921" y="3538822"/>
            <a:ext cx="5677540" cy="8213440"/>
          </a:xfrm>
          <a:custGeom>
            <a:avLst/>
            <a:gdLst/>
            <a:ahLst/>
            <a:cxnLst/>
            <a:rect r="r" b="b" t="t" l="l"/>
            <a:pathLst>
              <a:path h="8213440" w="5677540">
                <a:moveTo>
                  <a:pt x="0" y="0"/>
                </a:moveTo>
                <a:lnTo>
                  <a:pt x="5677540" y="0"/>
                </a:lnTo>
                <a:lnTo>
                  <a:pt x="5677540" y="8213440"/>
                </a:lnTo>
                <a:lnTo>
                  <a:pt x="0" y="8213440"/>
                </a:lnTo>
                <a:lnTo>
                  <a:pt x="0" y="0"/>
                </a:lnTo>
                <a:close/>
              </a:path>
            </a:pathLst>
          </a:custGeom>
          <a:blipFill>
            <a:blip r:embed="rId7"/>
            <a:stretch>
              <a:fillRect l="0" t="0" r="0" b="0"/>
            </a:stretch>
          </a:blipFill>
        </p:spPr>
      </p:sp>
      <p:sp>
        <p:nvSpPr>
          <p:cNvPr name="TextBox 10" id="10"/>
          <p:cNvSpPr txBox="true"/>
          <p:nvPr/>
        </p:nvSpPr>
        <p:spPr>
          <a:xfrm rot="0">
            <a:off x="177921" y="927823"/>
            <a:ext cx="6746234" cy="2610999"/>
          </a:xfrm>
          <a:prstGeom prst="rect">
            <a:avLst/>
          </a:prstGeom>
        </p:spPr>
        <p:txBody>
          <a:bodyPr anchor="t" rtlCol="false" tIns="0" lIns="0" bIns="0" rIns="0">
            <a:spAutoFit/>
          </a:bodyPr>
          <a:lstStyle/>
          <a:p>
            <a:pPr algn="l" marL="0" indent="0" lvl="0">
              <a:lnSpc>
                <a:spcPts val="6795"/>
              </a:lnSpc>
            </a:pPr>
            <a:r>
              <a:rPr lang="en-US" b="true" sz="6795">
                <a:solidFill>
                  <a:srgbClr val="000000"/>
                </a:solidFill>
                <a:latin typeface="Canva Sans Bold"/>
                <a:ea typeface="Canva Sans Bold"/>
                <a:cs typeface="Canva Sans Bold"/>
                <a:sym typeface="Canva Sans Bold"/>
              </a:rPr>
              <a:t>Customer Behaviour Patterns</a:t>
            </a:r>
          </a:p>
        </p:txBody>
      </p:sp>
      <p:sp>
        <p:nvSpPr>
          <p:cNvPr name="TextBox 11" id="11"/>
          <p:cNvSpPr txBox="true"/>
          <p:nvPr/>
        </p:nvSpPr>
        <p:spPr>
          <a:xfrm rot="0">
            <a:off x="9875386" y="6192305"/>
            <a:ext cx="6515678" cy="362969"/>
          </a:xfrm>
          <a:prstGeom prst="rect">
            <a:avLst/>
          </a:prstGeom>
        </p:spPr>
        <p:txBody>
          <a:bodyPr anchor="t" rtlCol="false" tIns="0" lIns="0" bIns="0" rIns="0">
            <a:spAutoFit/>
          </a:bodyPr>
          <a:lstStyle/>
          <a:p>
            <a:pPr algn="l" marL="0" indent="0" lvl="0">
              <a:lnSpc>
                <a:spcPts val="3093"/>
              </a:lnSpc>
            </a:pPr>
            <a:r>
              <a:rPr lang="en-US" b="true" sz="2209">
                <a:solidFill>
                  <a:srgbClr val="000000"/>
                </a:solidFill>
                <a:latin typeface="Open Sauce Bold"/>
                <a:ea typeface="Open Sauce Bold"/>
                <a:cs typeface="Open Sauce Bold"/>
                <a:sym typeface="Open Sauce Bold"/>
              </a:rPr>
              <a:t>Qualitative Insights Into How Customers Order</a:t>
            </a:r>
          </a:p>
        </p:txBody>
      </p:sp>
      <p:sp>
        <p:nvSpPr>
          <p:cNvPr name="TextBox 12" id="12"/>
          <p:cNvSpPr txBox="true"/>
          <p:nvPr/>
        </p:nvSpPr>
        <p:spPr>
          <a:xfrm rot="0">
            <a:off x="9875386" y="6865723"/>
            <a:ext cx="6946104" cy="2613061"/>
          </a:xfrm>
          <a:prstGeom prst="rect">
            <a:avLst/>
          </a:prstGeom>
        </p:spPr>
        <p:txBody>
          <a:bodyPr anchor="t" rtlCol="false" tIns="0" lIns="0" bIns="0" rIns="0">
            <a:spAutoFit/>
          </a:bodyPr>
          <a:lstStyle/>
          <a:p>
            <a:pPr algn="l" marL="0" indent="0" lvl="0">
              <a:lnSpc>
                <a:spcPts val="3498"/>
              </a:lnSpc>
            </a:pPr>
            <a:r>
              <a:rPr lang="en-US" sz="2498">
                <a:solidFill>
                  <a:srgbClr val="000000"/>
                </a:solidFill>
                <a:latin typeface="Open Sauce"/>
                <a:ea typeface="Open Sauce"/>
                <a:cs typeface="Open Sauce"/>
                <a:sym typeface="Open Sauce"/>
              </a:rPr>
              <a:t>Group size order value and occasion reveal key purchasing behaviour. Large groups may indicate events or corporate opportunities. Higher order values suggest bulk or group purchases. Occasion based orders create package deal opportunities</a:t>
            </a:r>
          </a:p>
        </p:txBody>
      </p:sp>
      <p:sp>
        <p:nvSpPr>
          <p:cNvPr name="TextBox 13" id="13"/>
          <p:cNvSpPr txBox="true"/>
          <p:nvPr/>
        </p:nvSpPr>
        <p:spPr>
          <a:xfrm rot="0">
            <a:off x="7197718" y="7476819"/>
            <a:ext cx="2137996" cy="641368"/>
          </a:xfrm>
          <a:prstGeom prst="rect">
            <a:avLst/>
          </a:prstGeom>
        </p:spPr>
        <p:txBody>
          <a:bodyPr anchor="t" rtlCol="false" tIns="0" lIns="0" bIns="0" rIns="0">
            <a:spAutoFit/>
          </a:bodyPr>
          <a:lstStyle/>
          <a:p>
            <a:pPr algn="l" marL="0" indent="0" lvl="0">
              <a:lnSpc>
                <a:spcPts val="2598"/>
              </a:lnSpc>
            </a:pPr>
            <a:r>
              <a:rPr lang="en-US" sz="1998">
                <a:solidFill>
                  <a:srgbClr val="000000"/>
                </a:solidFill>
                <a:latin typeface="Open Sauce"/>
                <a:ea typeface="Open Sauce"/>
                <a:cs typeface="Open Sauce"/>
                <a:sym typeface="Open Sauce"/>
              </a:rPr>
              <a:t>Insight Categories</a:t>
            </a:r>
          </a:p>
        </p:txBody>
      </p:sp>
      <p:sp>
        <p:nvSpPr>
          <p:cNvPr name="TextBox 14" id="14"/>
          <p:cNvSpPr txBox="true"/>
          <p:nvPr/>
        </p:nvSpPr>
        <p:spPr>
          <a:xfrm rot="0">
            <a:off x="7197718" y="6502754"/>
            <a:ext cx="1658870" cy="744988"/>
          </a:xfrm>
          <a:prstGeom prst="rect">
            <a:avLst/>
          </a:prstGeom>
        </p:spPr>
        <p:txBody>
          <a:bodyPr anchor="t" rtlCol="false" tIns="0" lIns="0" bIns="0" rIns="0">
            <a:spAutoFit/>
          </a:bodyPr>
          <a:lstStyle/>
          <a:p>
            <a:pPr algn="l" marL="0" indent="0" lvl="0">
              <a:lnSpc>
                <a:spcPts val="6187"/>
              </a:lnSpc>
            </a:pPr>
            <a:r>
              <a:rPr lang="en-US" b="true" sz="4419">
                <a:solidFill>
                  <a:srgbClr val="000000"/>
                </a:solidFill>
                <a:latin typeface="Open Sauce Bold"/>
                <a:ea typeface="Open Sauce Bold"/>
                <a:cs typeface="Open Sauce Bold"/>
                <a:sym typeface="Open Sauce Bold"/>
              </a:rPr>
              <a:t>3 Key</a:t>
            </a:r>
          </a:p>
        </p:txBody>
      </p:sp>
      <p:sp>
        <p:nvSpPr>
          <p:cNvPr name="Freeform 15" id="15"/>
          <p:cNvSpPr/>
          <p:nvPr/>
        </p:nvSpPr>
        <p:spPr>
          <a:xfrm flipH="false" flipV="false" rot="0">
            <a:off x="5085391" y="394908"/>
            <a:ext cx="770071" cy="799130"/>
          </a:xfrm>
          <a:custGeom>
            <a:avLst/>
            <a:gdLst/>
            <a:ahLst/>
            <a:cxnLst/>
            <a:rect r="r" b="b" t="t" l="l"/>
            <a:pathLst>
              <a:path h="799130" w="770071">
                <a:moveTo>
                  <a:pt x="0" y="0"/>
                </a:moveTo>
                <a:lnTo>
                  <a:pt x="770070" y="0"/>
                </a:lnTo>
                <a:lnTo>
                  <a:pt x="770070" y="799130"/>
                </a:lnTo>
                <a:lnTo>
                  <a:pt x="0" y="79913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6" id="16"/>
          <p:cNvSpPr/>
          <p:nvPr/>
        </p:nvSpPr>
        <p:spPr>
          <a:xfrm flipH="false" flipV="false" rot="0">
            <a:off x="15830051" y="5521352"/>
            <a:ext cx="561013" cy="582184"/>
          </a:xfrm>
          <a:custGeom>
            <a:avLst/>
            <a:gdLst/>
            <a:ahLst/>
            <a:cxnLst/>
            <a:rect r="r" b="b" t="t" l="l"/>
            <a:pathLst>
              <a:path h="582184" w="561013">
                <a:moveTo>
                  <a:pt x="0" y="0"/>
                </a:moveTo>
                <a:lnTo>
                  <a:pt x="561014" y="0"/>
                </a:lnTo>
                <a:lnTo>
                  <a:pt x="561014" y="582183"/>
                </a:lnTo>
                <a:lnTo>
                  <a:pt x="0" y="58218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FBEF"/>
        </a:solidFill>
      </p:bgPr>
    </p:bg>
    <p:spTree>
      <p:nvGrpSpPr>
        <p:cNvPr id="1" name=""/>
        <p:cNvGrpSpPr/>
        <p:nvPr/>
      </p:nvGrpSpPr>
      <p:grpSpPr>
        <a:xfrm>
          <a:off x="0" y="0"/>
          <a:ext cx="0" cy="0"/>
          <a:chOff x="0" y="0"/>
          <a:chExt cx="0" cy="0"/>
        </a:xfrm>
      </p:grpSpPr>
      <p:sp>
        <p:nvSpPr>
          <p:cNvPr name="Freeform 2" id="2"/>
          <p:cNvSpPr/>
          <p:nvPr/>
        </p:nvSpPr>
        <p:spPr>
          <a:xfrm flipH="false" flipV="false" rot="0">
            <a:off x="188397" y="-1551408"/>
            <a:ext cx="3480649" cy="3480649"/>
          </a:xfrm>
          <a:custGeom>
            <a:avLst/>
            <a:gdLst/>
            <a:ahLst/>
            <a:cxnLst/>
            <a:rect r="r" b="b" t="t" l="l"/>
            <a:pathLst>
              <a:path h="3480649" w="3480649">
                <a:moveTo>
                  <a:pt x="0" y="0"/>
                </a:moveTo>
                <a:lnTo>
                  <a:pt x="3480648" y="0"/>
                </a:lnTo>
                <a:lnTo>
                  <a:pt x="3480648" y="3480649"/>
                </a:lnTo>
                <a:lnTo>
                  <a:pt x="0" y="34806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953804" y="-501690"/>
            <a:ext cx="6244779" cy="7781037"/>
            <a:chOff x="0" y="0"/>
            <a:chExt cx="1363855" cy="1699373"/>
          </a:xfrm>
        </p:grpSpPr>
        <p:sp>
          <p:nvSpPr>
            <p:cNvPr name="Freeform 4" id="4"/>
            <p:cNvSpPr/>
            <p:nvPr/>
          </p:nvSpPr>
          <p:spPr>
            <a:xfrm flipH="false" flipV="false" rot="0">
              <a:off x="0" y="0"/>
              <a:ext cx="1363855" cy="1699373"/>
            </a:xfrm>
            <a:custGeom>
              <a:avLst/>
              <a:gdLst/>
              <a:ahLst/>
              <a:cxnLst/>
              <a:rect r="r" b="b" t="t" l="l"/>
              <a:pathLst>
                <a:path h="1699373" w="1363855">
                  <a:moveTo>
                    <a:pt x="55788" y="0"/>
                  </a:moveTo>
                  <a:lnTo>
                    <a:pt x="1308067" y="0"/>
                  </a:lnTo>
                  <a:cubicBezTo>
                    <a:pt x="1322863" y="0"/>
                    <a:pt x="1337053" y="5878"/>
                    <a:pt x="1347515" y="16340"/>
                  </a:cubicBezTo>
                  <a:cubicBezTo>
                    <a:pt x="1357977" y="26802"/>
                    <a:pt x="1363855" y="40992"/>
                    <a:pt x="1363855" y="55788"/>
                  </a:cubicBezTo>
                  <a:lnTo>
                    <a:pt x="1363855" y="1643584"/>
                  </a:lnTo>
                  <a:cubicBezTo>
                    <a:pt x="1363855" y="1658380"/>
                    <a:pt x="1357977" y="1672570"/>
                    <a:pt x="1347515" y="1683033"/>
                  </a:cubicBezTo>
                  <a:cubicBezTo>
                    <a:pt x="1337053" y="1693495"/>
                    <a:pt x="1322863" y="1699373"/>
                    <a:pt x="1308067" y="1699373"/>
                  </a:cubicBezTo>
                  <a:lnTo>
                    <a:pt x="55788" y="1699373"/>
                  </a:lnTo>
                  <a:cubicBezTo>
                    <a:pt x="40992" y="1699373"/>
                    <a:pt x="26802" y="1693495"/>
                    <a:pt x="16340" y="1683033"/>
                  </a:cubicBezTo>
                  <a:cubicBezTo>
                    <a:pt x="5878" y="1672570"/>
                    <a:pt x="0" y="1658380"/>
                    <a:pt x="0" y="1643584"/>
                  </a:cubicBezTo>
                  <a:lnTo>
                    <a:pt x="0" y="55788"/>
                  </a:lnTo>
                  <a:cubicBezTo>
                    <a:pt x="0" y="40992"/>
                    <a:pt x="5878" y="26802"/>
                    <a:pt x="16340" y="16340"/>
                  </a:cubicBezTo>
                  <a:cubicBezTo>
                    <a:pt x="26802" y="5878"/>
                    <a:pt x="40992" y="0"/>
                    <a:pt x="55788" y="0"/>
                  </a:cubicBezTo>
                  <a:close/>
                </a:path>
              </a:pathLst>
            </a:custGeom>
            <a:blipFill>
              <a:blip r:embed="rId4"/>
              <a:stretch>
                <a:fillRect l="-151" t="0" r="-151" b="0"/>
              </a:stretch>
            </a:blipFill>
          </p:spPr>
        </p:sp>
      </p:grpSp>
      <p:grpSp>
        <p:nvGrpSpPr>
          <p:cNvPr name="Group 5" id="5"/>
          <p:cNvGrpSpPr/>
          <p:nvPr/>
        </p:nvGrpSpPr>
        <p:grpSpPr>
          <a:xfrm rot="0">
            <a:off x="1953804" y="7546052"/>
            <a:ext cx="6244779" cy="3137094"/>
            <a:chOff x="0" y="0"/>
            <a:chExt cx="1363855" cy="685139"/>
          </a:xfrm>
        </p:grpSpPr>
        <p:sp>
          <p:nvSpPr>
            <p:cNvPr name="Freeform 6" id="6"/>
            <p:cNvSpPr/>
            <p:nvPr/>
          </p:nvSpPr>
          <p:spPr>
            <a:xfrm flipH="false" flipV="false" rot="0">
              <a:off x="0" y="0"/>
              <a:ext cx="1363855" cy="685139"/>
            </a:xfrm>
            <a:custGeom>
              <a:avLst/>
              <a:gdLst/>
              <a:ahLst/>
              <a:cxnLst/>
              <a:rect r="r" b="b" t="t" l="l"/>
              <a:pathLst>
                <a:path h="685139" w="1363855">
                  <a:moveTo>
                    <a:pt x="55788" y="0"/>
                  </a:moveTo>
                  <a:lnTo>
                    <a:pt x="1308067" y="0"/>
                  </a:lnTo>
                  <a:cubicBezTo>
                    <a:pt x="1322863" y="0"/>
                    <a:pt x="1337053" y="5878"/>
                    <a:pt x="1347515" y="16340"/>
                  </a:cubicBezTo>
                  <a:cubicBezTo>
                    <a:pt x="1357977" y="26802"/>
                    <a:pt x="1363855" y="40992"/>
                    <a:pt x="1363855" y="55788"/>
                  </a:cubicBezTo>
                  <a:lnTo>
                    <a:pt x="1363855" y="629351"/>
                  </a:lnTo>
                  <a:cubicBezTo>
                    <a:pt x="1363855" y="644147"/>
                    <a:pt x="1357977" y="658337"/>
                    <a:pt x="1347515" y="668799"/>
                  </a:cubicBezTo>
                  <a:cubicBezTo>
                    <a:pt x="1337053" y="679261"/>
                    <a:pt x="1322863" y="685139"/>
                    <a:pt x="1308067" y="685139"/>
                  </a:cubicBezTo>
                  <a:lnTo>
                    <a:pt x="55788" y="685139"/>
                  </a:lnTo>
                  <a:cubicBezTo>
                    <a:pt x="40992" y="685139"/>
                    <a:pt x="26802" y="679261"/>
                    <a:pt x="16340" y="668799"/>
                  </a:cubicBezTo>
                  <a:cubicBezTo>
                    <a:pt x="5878" y="658337"/>
                    <a:pt x="0" y="644147"/>
                    <a:pt x="0" y="629351"/>
                  </a:cubicBezTo>
                  <a:lnTo>
                    <a:pt x="0" y="55788"/>
                  </a:lnTo>
                  <a:cubicBezTo>
                    <a:pt x="0" y="40992"/>
                    <a:pt x="5878" y="26802"/>
                    <a:pt x="16340" y="16340"/>
                  </a:cubicBezTo>
                  <a:cubicBezTo>
                    <a:pt x="26802" y="5878"/>
                    <a:pt x="40992" y="0"/>
                    <a:pt x="55788" y="0"/>
                  </a:cubicBezTo>
                  <a:close/>
                </a:path>
              </a:pathLst>
            </a:custGeom>
            <a:blipFill>
              <a:blip r:embed="rId5"/>
              <a:stretch>
                <a:fillRect l="0" t="-263" r="0" b="-263"/>
              </a:stretch>
            </a:blipFill>
          </p:spPr>
        </p:sp>
      </p:grpSp>
      <p:sp>
        <p:nvSpPr>
          <p:cNvPr name="Freeform 7" id="7"/>
          <p:cNvSpPr/>
          <p:nvPr/>
        </p:nvSpPr>
        <p:spPr>
          <a:xfrm flipH="false" flipV="false" rot="0">
            <a:off x="16230600" y="61722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16061509" y="4340805"/>
            <a:ext cx="1230897" cy="967816"/>
          </a:xfrm>
          <a:custGeom>
            <a:avLst/>
            <a:gdLst/>
            <a:ahLst/>
            <a:cxnLst/>
            <a:rect r="r" b="b" t="t" l="l"/>
            <a:pathLst>
              <a:path h="967816" w="1230897">
                <a:moveTo>
                  <a:pt x="0" y="0"/>
                </a:moveTo>
                <a:lnTo>
                  <a:pt x="1230897" y="0"/>
                </a:lnTo>
                <a:lnTo>
                  <a:pt x="1230897" y="967815"/>
                </a:lnTo>
                <a:lnTo>
                  <a:pt x="0" y="967815"/>
                </a:lnTo>
                <a:lnTo>
                  <a:pt x="0" y="0"/>
                </a:lnTo>
                <a:close/>
              </a:path>
            </a:pathLst>
          </a:custGeom>
          <a:blipFill>
            <a:blip r:embed="rId6">
              <a:extLst>
                <a:ext uri="{96DAC541-7B7A-43D3-8B79-37D633B846F1}">
                  <asvg:svgBlip xmlns:asvg="http://schemas.microsoft.com/office/drawing/2016/SVG/main" r:embed="rId7"/>
                </a:ext>
              </a:extLst>
            </a:blip>
            <a:stretch>
              <a:fillRect l="0" t="0" r="-35952" b="-47129"/>
            </a:stretch>
          </a:blipFill>
        </p:spPr>
      </p:sp>
      <p:sp>
        <p:nvSpPr>
          <p:cNvPr name="TextBox 9" id="9"/>
          <p:cNvSpPr txBox="true"/>
          <p:nvPr/>
        </p:nvSpPr>
        <p:spPr>
          <a:xfrm rot="0">
            <a:off x="9144000" y="2254411"/>
            <a:ext cx="6529561" cy="1753749"/>
          </a:xfrm>
          <a:prstGeom prst="rect">
            <a:avLst/>
          </a:prstGeom>
        </p:spPr>
        <p:txBody>
          <a:bodyPr anchor="t" rtlCol="false" tIns="0" lIns="0" bIns="0" rIns="0">
            <a:spAutoFit/>
          </a:bodyPr>
          <a:lstStyle/>
          <a:p>
            <a:pPr algn="l" marL="0" indent="0" lvl="0">
              <a:lnSpc>
                <a:spcPts val="6795"/>
              </a:lnSpc>
            </a:pPr>
            <a:r>
              <a:rPr lang="en-US" b="true" sz="6795">
                <a:solidFill>
                  <a:srgbClr val="000000"/>
                </a:solidFill>
                <a:latin typeface="Canva Sans Bold"/>
                <a:ea typeface="Canva Sans Bold"/>
                <a:cs typeface="Canva Sans Bold"/>
                <a:sym typeface="Canva Sans Bold"/>
              </a:rPr>
              <a:t>B2C vs B2B</a:t>
            </a:r>
          </a:p>
          <a:p>
            <a:pPr algn="l" marL="0" indent="0" lvl="0">
              <a:lnSpc>
                <a:spcPts val="6795"/>
              </a:lnSpc>
            </a:pPr>
            <a:r>
              <a:rPr lang="en-US" b="true" sz="6795">
                <a:solidFill>
                  <a:srgbClr val="000000"/>
                </a:solidFill>
                <a:latin typeface="Canva Sans Bold"/>
                <a:ea typeface="Canva Sans Bold"/>
                <a:cs typeface="Canva Sans Bold"/>
                <a:sym typeface="Canva Sans Bold"/>
              </a:rPr>
              <a:t>Customers</a:t>
            </a:r>
          </a:p>
        </p:txBody>
      </p:sp>
      <p:sp>
        <p:nvSpPr>
          <p:cNvPr name="TextBox 10" id="10"/>
          <p:cNvSpPr txBox="true"/>
          <p:nvPr/>
        </p:nvSpPr>
        <p:spPr>
          <a:xfrm rot="0">
            <a:off x="9144000" y="5275106"/>
            <a:ext cx="6529561" cy="405808"/>
          </a:xfrm>
          <a:prstGeom prst="rect">
            <a:avLst/>
          </a:prstGeom>
        </p:spPr>
        <p:txBody>
          <a:bodyPr anchor="t" rtlCol="false" tIns="0" lIns="0" bIns="0" rIns="0">
            <a:spAutoFit/>
          </a:bodyPr>
          <a:lstStyle/>
          <a:p>
            <a:pPr algn="l" marL="0" indent="0" lvl="0">
              <a:lnSpc>
                <a:spcPts val="3357"/>
              </a:lnSpc>
            </a:pPr>
            <a:r>
              <a:rPr lang="en-US" b="true" sz="2398">
                <a:solidFill>
                  <a:srgbClr val="000000"/>
                </a:solidFill>
                <a:latin typeface="Open Sauce Bold"/>
                <a:ea typeface="Open Sauce Bold"/>
                <a:cs typeface="Open Sauce Bold"/>
                <a:sym typeface="Open Sauce Bold"/>
              </a:rPr>
              <a:t>Two Sales Opportunities for Spice Garden</a:t>
            </a:r>
          </a:p>
        </p:txBody>
      </p:sp>
      <p:sp>
        <p:nvSpPr>
          <p:cNvPr name="TextBox 11" id="11"/>
          <p:cNvSpPr txBox="true"/>
          <p:nvPr/>
        </p:nvSpPr>
        <p:spPr>
          <a:xfrm rot="0">
            <a:off x="9144000" y="5902980"/>
            <a:ext cx="6917509" cy="3664891"/>
          </a:xfrm>
          <a:prstGeom prst="rect">
            <a:avLst/>
          </a:prstGeom>
        </p:spPr>
        <p:txBody>
          <a:bodyPr anchor="t" rtlCol="false" tIns="0" lIns="0" bIns="0" rIns="0">
            <a:spAutoFit/>
          </a:bodyPr>
          <a:lstStyle/>
          <a:p>
            <a:pPr algn="l" marL="0" indent="0" lvl="0">
              <a:lnSpc>
                <a:spcPts val="3273"/>
              </a:lnSpc>
            </a:pPr>
            <a:r>
              <a:rPr lang="en-US" b="true" sz="2337">
                <a:solidFill>
                  <a:srgbClr val="000000"/>
                </a:solidFill>
                <a:latin typeface="Open Sauce Bold"/>
                <a:ea typeface="Open Sauce Bold"/>
                <a:cs typeface="Open Sauce Bold"/>
                <a:sym typeface="Open Sauce Bold"/>
              </a:rPr>
              <a:t>B2C (Business to Customer)  </a:t>
            </a:r>
            <a:r>
              <a:rPr lang="en-US" sz="2337">
                <a:solidFill>
                  <a:srgbClr val="000000"/>
                </a:solidFill>
                <a:latin typeface="Open Sauce"/>
                <a:ea typeface="Open Sauce"/>
                <a:cs typeface="Open Sauce"/>
                <a:sym typeface="Open Sauce"/>
              </a:rPr>
              <a:t>Families,students, couples, individuals &amp; office employees  regular daily dining, everyday orders, consistent footfall.</a:t>
            </a:r>
          </a:p>
          <a:p>
            <a:pPr algn="l" marL="0" indent="0" lvl="0">
              <a:lnSpc>
                <a:spcPts val="3273"/>
              </a:lnSpc>
            </a:pPr>
          </a:p>
          <a:p>
            <a:pPr algn="l" marL="0" indent="0" lvl="0">
              <a:lnSpc>
                <a:spcPts val="3273"/>
              </a:lnSpc>
            </a:pPr>
            <a:r>
              <a:rPr lang="en-US" b="true" sz="2337">
                <a:solidFill>
                  <a:srgbClr val="000000"/>
                </a:solidFill>
                <a:latin typeface="Open Sauce Bold"/>
                <a:ea typeface="Open Sauce Bold"/>
                <a:cs typeface="Open Sauce Bold"/>
                <a:sym typeface="Open Sauce Bold"/>
              </a:rPr>
              <a:t>B2B (Business to Business)</a:t>
            </a:r>
            <a:r>
              <a:rPr lang="en-US" sz="2337">
                <a:solidFill>
                  <a:srgbClr val="000000"/>
                </a:solidFill>
                <a:latin typeface="Open Sauce"/>
                <a:ea typeface="Open Sauce"/>
                <a:cs typeface="Open Sauce"/>
                <a:sym typeface="Open Sauce"/>
              </a:rPr>
              <a:t> Corporate clients, event organizers &amp; bulk-order clients arger orders, higher value, special packages.</a:t>
            </a:r>
          </a:p>
          <a:p>
            <a:pPr algn="l" marL="0" indent="0" lvl="0">
              <a:lnSpc>
                <a:spcPts val="3273"/>
              </a:lnSpc>
            </a:pPr>
          </a:p>
        </p:txBody>
      </p:sp>
      <p:sp>
        <p:nvSpPr>
          <p:cNvPr name="Freeform 12" id="12"/>
          <p:cNvSpPr/>
          <p:nvPr/>
        </p:nvSpPr>
        <p:spPr>
          <a:xfrm flipH="false" flipV="false" rot="848131">
            <a:off x="16907480" y="2004106"/>
            <a:ext cx="703640" cy="730193"/>
          </a:xfrm>
          <a:custGeom>
            <a:avLst/>
            <a:gdLst/>
            <a:ahLst/>
            <a:cxnLst/>
            <a:rect r="r" b="b" t="t" l="l"/>
            <a:pathLst>
              <a:path h="730193" w="703640">
                <a:moveTo>
                  <a:pt x="0" y="0"/>
                </a:moveTo>
                <a:lnTo>
                  <a:pt x="703640" y="0"/>
                </a:lnTo>
                <a:lnTo>
                  <a:pt x="703640" y="730193"/>
                </a:lnTo>
                <a:lnTo>
                  <a:pt x="0" y="73019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3" id="13"/>
          <p:cNvSpPr/>
          <p:nvPr/>
        </p:nvSpPr>
        <p:spPr>
          <a:xfrm flipH="false" flipV="false" rot="0">
            <a:off x="14525686" y="9276779"/>
            <a:ext cx="561013" cy="582184"/>
          </a:xfrm>
          <a:custGeom>
            <a:avLst/>
            <a:gdLst/>
            <a:ahLst/>
            <a:cxnLst/>
            <a:rect r="r" b="b" t="t" l="l"/>
            <a:pathLst>
              <a:path h="582184" w="561013">
                <a:moveTo>
                  <a:pt x="0" y="0"/>
                </a:moveTo>
                <a:lnTo>
                  <a:pt x="561013" y="0"/>
                </a:lnTo>
                <a:lnTo>
                  <a:pt x="561013" y="582184"/>
                </a:lnTo>
                <a:lnTo>
                  <a:pt x="0" y="58218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FBEF"/>
        </a:solidFill>
      </p:bgPr>
    </p:bg>
    <p:spTree>
      <p:nvGrpSpPr>
        <p:cNvPr id="1" name=""/>
        <p:cNvGrpSpPr/>
        <p:nvPr/>
      </p:nvGrpSpPr>
      <p:grpSpPr>
        <a:xfrm>
          <a:off x="0" y="0"/>
          <a:ext cx="0" cy="0"/>
          <a:chOff x="0" y="0"/>
          <a:chExt cx="0" cy="0"/>
        </a:xfrm>
      </p:grpSpPr>
      <p:sp>
        <p:nvSpPr>
          <p:cNvPr name="Freeform 2" id="2"/>
          <p:cNvSpPr/>
          <p:nvPr/>
        </p:nvSpPr>
        <p:spPr>
          <a:xfrm flipH="false" flipV="false" rot="0">
            <a:off x="10927088" y="9199551"/>
            <a:ext cx="3081755" cy="3081755"/>
          </a:xfrm>
          <a:custGeom>
            <a:avLst/>
            <a:gdLst/>
            <a:ahLst/>
            <a:cxnLst/>
            <a:rect r="r" b="b" t="t" l="l"/>
            <a:pathLst>
              <a:path h="3081755" w="3081755">
                <a:moveTo>
                  <a:pt x="0" y="0"/>
                </a:moveTo>
                <a:lnTo>
                  <a:pt x="3081755" y="0"/>
                </a:lnTo>
                <a:lnTo>
                  <a:pt x="3081755" y="3081754"/>
                </a:lnTo>
                <a:lnTo>
                  <a:pt x="0" y="308175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40344" y="737608"/>
            <a:ext cx="9282342" cy="9282342"/>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0" t="0" r="0" b="0"/>
              </a:stretch>
            </a:blipFill>
          </p:spPr>
        </p:sp>
      </p:grpSp>
      <p:grpSp>
        <p:nvGrpSpPr>
          <p:cNvPr name="Group 5" id="5"/>
          <p:cNvGrpSpPr/>
          <p:nvPr/>
        </p:nvGrpSpPr>
        <p:grpSpPr>
          <a:xfrm rot="0">
            <a:off x="6442129" y="155425"/>
            <a:ext cx="2980557" cy="2980557"/>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6F3"/>
            </a:solidFill>
            <a:ln cap="sq">
              <a:noFill/>
              <a:prstDash val="solid"/>
              <a:miter/>
            </a:ln>
          </p:spPr>
        </p:sp>
      </p:grpSp>
      <p:sp>
        <p:nvSpPr>
          <p:cNvPr name="Freeform 7" id="7"/>
          <p:cNvSpPr/>
          <p:nvPr/>
        </p:nvSpPr>
        <p:spPr>
          <a:xfrm flipH="false" flipV="false" rot="0">
            <a:off x="6961717" y="667677"/>
            <a:ext cx="1941382" cy="1956053"/>
          </a:xfrm>
          <a:custGeom>
            <a:avLst/>
            <a:gdLst/>
            <a:ahLst/>
            <a:cxnLst/>
            <a:rect r="r" b="b" t="t" l="l"/>
            <a:pathLst>
              <a:path h="1956053" w="1941382">
                <a:moveTo>
                  <a:pt x="0" y="0"/>
                </a:moveTo>
                <a:lnTo>
                  <a:pt x="1941382" y="0"/>
                </a:lnTo>
                <a:lnTo>
                  <a:pt x="1941382" y="1956052"/>
                </a:lnTo>
                <a:lnTo>
                  <a:pt x="0" y="1956052"/>
                </a:lnTo>
                <a:lnTo>
                  <a:pt x="0" y="0"/>
                </a:lnTo>
                <a:close/>
              </a:path>
            </a:pathLst>
          </a:custGeom>
          <a:blipFill>
            <a:blip r:embed="rId5"/>
            <a:stretch>
              <a:fillRect l="0" t="0" r="0" b="0"/>
            </a:stretch>
          </a:blipFill>
        </p:spPr>
      </p:sp>
      <p:sp>
        <p:nvSpPr>
          <p:cNvPr name="Freeform 8" id="8"/>
          <p:cNvSpPr/>
          <p:nvPr/>
        </p:nvSpPr>
        <p:spPr>
          <a:xfrm flipH="false" flipV="false" rot="0">
            <a:off x="16158650" y="0"/>
            <a:ext cx="3955254" cy="3955254"/>
          </a:xfrm>
          <a:custGeom>
            <a:avLst/>
            <a:gdLst/>
            <a:ahLst/>
            <a:cxnLst/>
            <a:rect r="r" b="b" t="t" l="l"/>
            <a:pathLst>
              <a:path h="3955254" w="3955254">
                <a:moveTo>
                  <a:pt x="0" y="0"/>
                </a:moveTo>
                <a:lnTo>
                  <a:pt x="3955254" y="0"/>
                </a:lnTo>
                <a:lnTo>
                  <a:pt x="3955254" y="3955254"/>
                </a:lnTo>
                <a:lnTo>
                  <a:pt x="0" y="395525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2272573">
            <a:off x="13884296" y="1845739"/>
            <a:ext cx="1377945" cy="1083434"/>
          </a:xfrm>
          <a:custGeom>
            <a:avLst/>
            <a:gdLst/>
            <a:ahLst/>
            <a:cxnLst/>
            <a:rect r="r" b="b" t="t" l="l"/>
            <a:pathLst>
              <a:path h="1083434" w="1377945">
                <a:moveTo>
                  <a:pt x="0" y="0"/>
                </a:moveTo>
                <a:lnTo>
                  <a:pt x="1377944" y="0"/>
                </a:lnTo>
                <a:lnTo>
                  <a:pt x="1377944" y="1083434"/>
                </a:lnTo>
                <a:lnTo>
                  <a:pt x="0" y="1083434"/>
                </a:lnTo>
                <a:lnTo>
                  <a:pt x="0" y="0"/>
                </a:lnTo>
                <a:close/>
              </a:path>
            </a:pathLst>
          </a:custGeom>
          <a:blipFill>
            <a:blip r:embed="rId6">
              <a:extLst>
                <a:ext uri="{96DAC541-7B7A-43D3-8B79-37D633B846F1}">
                  <asvg:svgBlip xmlns:asvg="http://schemas.microsoft.com/office/drawing/2016/SVG/main" r:embed="rId7"/>
                </a:ext>
              </a:extLst>
            </a:blip>
            <a:stretch>
              <a:fillRect l="0" t="0" r="-35952" b="-47129"/>
            </a:stretch>
          </a:blipFill>
        </p:spPr>
      </p:sp>
      <p:sp>
        <p:nvSpPr>
          <p:cNvPr name="TextBox 10" id="10"/>
          <p:cNvSpPr txBox="true"/>
          <p:nvPr/>
        </p:nvSpPr>
        <p:spPr>
          <a:xfrm rot="0">
            <a:off x="10127536" y="2511281"/>
            <a:ext cx="5707264" cy="1699260"/>
          </a:xfrm>
          <a:prstGeom prst="rect">
            <a:avLst/>
          </a:prstGeom>
        </p:spPr>
        <p:txBody>
          <a:bodyPr anchor="t" rtlCol="false" tIns="0" lIns="0" bIns="0" rIns="0">
            <a:spAutoFit/>
          </a:bodyPr>
          <a:lstStyle/>
          <a:p>
            <a:pPr algn="l" marL="0" indent="0" lvl="0">
              <a:lnSpc>
                <a:spcPts val="6525"/>
              </a:lnSpc>
            </a:pPr>
            <a:r>
              <a:rPr lang="en-US" b="true" sz="6525">
                <a:solidFill>
                  <a:srgbClr val="000000"/>
                </a:solidFill>
                <a:latin typeface="Canva Sans Bold"/>
                <a:ea typeface="Canva Sans Bold"/>
                <a:cs typeface="Canva Sans Bold"/>
                <a:sym typeface="Canva Sans Bold"/>
              </a:rPr>
              <a:t>Market</a:t>
            </a:r>
          </a:p>
          <a:p>
            <a:pPr algn="l" marL="0" indent="0" lvl="0">
              <a:lnSpc>
                <a:spcPts val="6525"/>
              </a:lnSpc>
            </a:pPr>
            <a:r>
              <a:rPr lang="en-US" b="true" sz="6525">
                <a:solidFill>
                  <a:srgbClr val="000000"/>
                </a:solidFill>
                <a:latin typeface="Canva Sans Bold"/>
                <a:ea typeface="Canva Sans Bold"/>
                <a:cs typeface="Canva Sans Bold"/>
                <a:sym typeface="Canva Sans Bold"/>
              </a:rPr>
              <a:t>Segmentation</a:t>
            </a:r>
          </a:p>
        </p:txBody>
      </p:sp>
      <p:sp>
        <p:nvSpPr>
          <p:cNvPr name="TextBox 11" id="11"/>
          <p:cNvSpPr txBox="true"/>
          <p:nvPr/>
        </p:nvSpPr>
        <p:spPr>
          <a:xfrm rot="0">
            <a:off x="10127536" y="5556447"/>
            <a:ext cx="6286699" cy="405808"/>
          </a:xfrm>
          <a:prstGeom prst="rect">
            <a:avLst/>
          </a:prstGeom>
        </p:spPr>
        <p:txBody>
          <a:bodyPr anchor="t" rtlCol="false" tIns="0" lIns="0" bIns="0" rIns="0">
            <a:spAutoFit/>
          </a:bodyPr>
          <a:lstStyle/>
          <a:p>
            <a:pPr algn="l" marL="0" indent="0" lvl="0">
              <a:lnSpc>
                <a:spcPts val="3357"/>
              </a:lnSpc>
            </a:pPr>
            <a:r>
              <a:rPr lang="en-US" b="true" sz="2398">
                <a:solidFill>
                  <a:srgbClr val="000000"/>
                </a:solidFill>
                <a:latin typeface="Open Sauce Bold"/>
                <a:ea typeface="Open Sauce Bold"/>
                <a:cs typeface="Open Sauce Bold"/>
                <a:sym typeface="Open Sauce Bold"/>
              </a:rPr>
              <a:t>Luxury Market vs Mass Market</a:t>
            </a:r>
          </a:p>
        </p:txBody>
      </p:sp>
      <p:sp>
        <p:nvSpPr>
          <p:cNvPr name="TextBox 12" id="12"/>
          <p:cNvSpPr txBox="true"/>
          <p:nvPr/>
        </p:nvSpPr>
        <p:spPr>
          <a:xfrm rot="0">
            <a:off x="10127536" y="6405716"/>
            <a:ext cx="6173312" cy="3487254"/>
          </a:xfrm>
          <a:prstGeom prst="rect">
            <a:avLst/>
          </a:prstGeom>
        </p:spPr>
        <p:txBody>
          <a:bodyPr anchor="t" rtlCol="false" tIns="0" lIns="0" bIns="0" rIns="0">
            <a:spAutoFit/>
          </a:bodyPr>
          <a:lstStyle/>
          <a:p>
            <a:pPr algn="l" marL="0" indent="0" lvl="0">
              <a:lnSpc>
                <a:spcPts val="3089"/>
              </a:lnSpc>
            </a:pPr>
            <a:r>
              <a:rPr lang="en-US" b="true" sz="2206">
                <a:solidFill>
                  <a:srgbClr val="000000"/>
                </a:solidFill>
                <a:latin typeface="Open Sauce Bold"/>
                <a:ea typeface="Open Sauce Bold"/>
                <a:cs typeface="Open Sauce Bold"/>
                <a:sym typeface="Open Sauce Bold"/>
              </a:rPr>
              <a:t>Luxury Market: </a:t>
            </a:r>
            <a:r>
              <a:rPr lang="en-US" sz="2206">
                <a:solidFill>
                  <a:srgbClr val="000000"/>
                </a:solidFill>
                <a:latin typeface="Open Sauce"/>
                <a:ea typeface="Open Sauce"/>
                <a:cs typeface="Open Sauce"/>
                <a:sym typeface="Open Sauce"/>
              </a:rPr>
              <a:t>premium pricing, exclusive experience, high spending, niche audience.</a:t>
            </a:r>
          </a:p>
          <a:p>
            <a:pPr algn="l" marL="0" indent="0" lvl="0">
              <a:lnSpc>
                <a:spcPts val="3089"/>
              </a:lnSpc>
            </a:pPr>
          </a:p>
          <a:p>
            <a:pPr algn="l" marL="0" indent="0" lvl="0">
              <a:lnSpc>
                <a:spcPts val="3089"/>
              </a:lnSpc>
            </a:pPr>
            <a:r>
              <a:rPr lang="en-US" b="true" sz="2206">
                <a:solidFill>
                  <a:srgbClr val="000000"/>
                </a:solidFill>
                <a:latin typeface="Open Sauce Bold"/>
                <a:ea typeface="Open Sauce Bold"/>
                <a:cs typeface="Open Sauce Bold"/>
                <a:sym typeface="Open Sauce Bold"/>
              </a:rPr>
              <a:t> Mass Market:</a:t>
            </a:r>
            <a:r>
              <a:rPr lang="en-US" sz="2206">
                <a:solidFill>
                  <a:srgbClr val="000000"/>
                </a:solidFill>
                <a:latin typeface="Open Sauce"/>
                <a:ea typeface="Open Sauce"/>
                <a:cs typeface="Open Sauce"/>
                <a:sym typeface="Open Sauce"/>
              </a:rPr>
              <a:t> affordable pricing, wider audience, everyday dining, low-medium spending. → Spice Garden is a Mass Market brand — accessible pricing and a broad, diverse customer base make it ideal for high volume, everyday dining.</a:t>
            </a:r>
          </a:p>
        </p:txBody>
      </p:sp>
      <p:sp>
        <p:nvSpPr>
          <p:cNvPr name="Freeform 13" id="13"/>
          <p:cNvSpPr/>
          <p:nvPr/>
        </p:nvSpPr>
        <p:spPr>
          <a:xfrm flipH="false" flipV="false" rot="-2608671">
            <a:off x="16788720" y="7793059"/>
            <a:ext cx="751087" cy="779429"/>
          </a:xfrm>
          <a:custGeom>
            <a:avLst/>
            <a:gdLst/>
            <a:ahLst/>
            <a:cxnLst/>
            <a:rect r="r" b="b" t="t" l="l"/>
            <a:pathLst>
              <a:path h="779429" w="751087">
                <a:moveTo>
                  <a:pt x="0" y="0"/>
                </a:moveTo>
                <a:lnTo>
                  <a:pt x="751087" y="0"/>
                </a:lnTo>
                <a:lnTo>
                  <a:pt x="751087" y="779429"/>
                </a:lnTo>
                <a:lnTo>
                  <a:pt x="0" y="77942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4" id="14"/>
          <p:cNvSpPr/>
          <p:nvPr/>
        </p:nvSpPr>
        <p:spPr>
          <a:xfrm flipH="false" flipV="false" rot="0">
            <a:off x="1028700" y="155425"/>
            <a:ext cx="561013" cy="582184"/>
          </a:xfrm>
          <a:custGeom>
            <a:avLst/>
            <a:gdLst/>
            <a:ahLst/>
            <a:cxnLst/>
            <a:rect r="r" b="b" t="t" l="l"/>
            <a:pathLst>
              <a:path h="582184" w="561013">
                <a:moveTo>
                  <a:pt x="0" y="0"/>
                </a:moveTo>
                <a:lnTo>
                  <a:pt x="561013" y="0"/>
                </a:lnTo>
                <a:lnTo>
                  <a:pt x="561013" y="582183"/>
                </a:lnTo>
                <a:lnTo>
                  <a:pt x="0" y="58218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FFBEF"/>
        </a:solidFill>
      </p:bgPr>
    </p:bg>
    <p:spTree>
      <p:nvGrpSpPr>
        <p:cNvPr id="1" name=""/>
        <p:cNvGrpSpPr/>
        <p:nvPr/>
      </p:nvGrpSpPr>
      <p:grpSpPr>
        <a:xfrm>
          <a:off x="0" y="0"/>
          <a:ext cx="0" cy="0"/>
          <a:chOff x="0" y="0"/>
          <a:chExt cx="0" cy="0"/>
        </a:xfrm>
      </p:grpSpPr>
      <p:sp>
        <p:nvSpPr>
          <p:cNvPr name="Freeform 2" id="2"/>
          <p:cNvSpPr/>
          <p:nvPr/>
        </p:nvSpPr>
        <p:spPr>
          <a:xfrm flipH="false" flipV="false" rot="0">
            <a:off x="0" y="6554539"/>
            <a:ext cx="3732461" cy="3732461"/>
          </a:xfrm>
          <a:custGeom>
            <a:avLst/>
            <a:gdLst/>
            <a:ahLst/>
            <a:cxnLst/>
            <a:rect r="r" b="b" t="t" l="l"/>
            <a:pathLst>
              <a:path h="3732461" w="3732461">
                <a:moveTo>
                  <a:pt x="0" y="0"/>
                </a:moveTo>
                <a:lnTo>
                  <a:pt x="3732461" y="0"/>
                </a:lnTo>
                <a:lnTo>
                  <a:pt x="3732461" y="3732461"/>
                </a:lnTo>
                <a:lnTo>
                  <a:pt x="0" y="373246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469583" y="4716053"/>
            <a:ext cx="7967153" cy="4282436"/>
            <a:chOff x="0" y="0"/>
            <a:chExt cx="2198710" cy="1181832"/>
          </a:xfrm>
        </p:grpSpPr>
        <p:sp>
          <p:nvSpPr>
            <p:cNvPr name="Freeform 4" id="4"/>
            <p:cNvSpPr/>
            <p:nvPr/>
          </p:nvSpPr>
          <p:spPr>
            <a:xfrm flipH="false" flipV="false" rot="0">
              <a:off x="0" y="0"/>
              <a:ext cx="2198710" cy="1181832"/>
            </a:xfrm>
            <a:custGeom>
              <a:avLst/>
              <a:gdLst/>
              <a:ahLst/>
              <a:cxnLst/>
              <a:rect r="r" b="b" t="t" l="l"/>
              <a:pathLst>
                <a:path h="1181832" w="2198710">
                  <a:moveTo>
                    <a:pt x="38869" y="0"/>
                  </a:moveTo>
                  <a:lnTo>
                    <a:pt x="2159841" y="0"/>
                  </a:lnTo>
                  <a:cubicBezTo>
                    <a:pt x="2181308" y="0"/>
                    <a:pt x="2198710" y="17402"/>
                    <a:pt x="2198710" y="38869"/>
                  </a:cubicBezTo>
                  <a:lnTo>
                    <a:pt x="2198710" y="1142962"/>
                  </a:lnTo>
                  <a:cubicBezTo>
                    <a:pt x="2198710" y="1153271"/>
                    <a:pt x="2194615" y="1163158"/>
                    <a:pt x="2187325" y="1170447"/>
                  </a:cubicBezTo>
                  <a:cubicBezTo>
                    <a:pt x="2180036" y="1177736"/>
                    <a:pt x="2170149" y="1181832"/>
                    <a:pt x="2159841" y="1181832"/>
                  </a:cubicBezTo>
                  <a:lnTo>
                    <a:pt x="38869" y="1181832"/>
                  </a:lnTo>
                  <a:cubicBezTo>
                    <a:pt x="17402" y="1181832"/>
                    <a:pt x="0" y="1164429"/>
                    <a:pt x="0" y="1142962"/>
                  </a:cubicBezTo>
                  <a:lnTo>
                    <a:pt x="0" y="38869"/>
                  </a:lnTo>
                  <a:cubicBezTo>
                    <a:pt x="0" y="28560"/>
                    <a:pt x="4095" y="18674"/>
                    <a:pt x="11385" y="11385"/>
                  </a:cubicBezTo>
                  <a:cubicBezTo>
                    <a:pt x="18674" y="4095"/>
                    <a:pt x="28560" y="0"/>
                    <a:pt x="38869" y="0"/>
                  </a:cubicBezTo>
                  <a:close/>
                </a:path>
              </a:pathLst>
            </a:custGeom>
            <a:blipFill>
              <a:blip r:embed="rId4"/>
              <a:stretch>
                <a:fillRect l="-352" t="0" r="-352" b="0"/>
              </a:stretch>
            </a:blipFill>
          </p:spPr>
        </p:sp>
      </p:grpSp>
      <p:grpSp>
        <p:nvGrpSpPr>
          <p:cNvPr name="Group 5" id="5"/>
          <p:cNvGrpSpPr/>
          <p:nvPr/>
        </p:nvGrpSpPr>
        <p:grpSpPr>
          <a:xfrm rot="0">
            <a:off x="9746866" y="4716053"/>
            <a:ext cx="3379173" cy="4282436"/>
            <a:chOff x="0" y="0"/>
            <a:chExt cx="932557" cy="1181832"/>
          </a:xfrm>
        </p:grpSpPr>
        <p:sp>
          <p:nvSpPr>
            <p:cNvPr name="Freeform 6" id="6"/>
            <p:cNvSpPr/>
            <p:nvPr/>
          </p:nvSpPr>
          <p:spPr>
            <a:xfrm flipH="false" flipV="false" rot="0">
              <a:off x="0" y="0"/>
              <a:ext cx="932557" cy="1181832"/>
            </a:xfrm>
            <a:custGeom>
              <a:avLst/>
              <a:gdLst/>
              <a:ahLst/>
              <a:cxnLst/>
              <a:rect r="r" b="b" t="t" l="l"/>
              <a:pathLst>
                <a:path h="1181832" w="932557">
                  <a:moveTo>
                    <a:pt x="91643" y="0"/>
                  </a:moveTo>
                  <a:lnTo>
                    <a:pt x="840914" y="0"/>
                  </a:lnTo>
                  <a:cubicBezTo>
                    <a:pt x="891527" y="0"/>
                    <a:pt x="932557" y="41030"/>
                    <a:pt x="932557" y="91643"/>
                  </a:cubicBezTo>
                  <a:lnTo>
                    <a:pt x="932557" y="1090189"/>
                  </a:lnTo>
                  <a:cubicBezTo>
                    <a:pt x="932557" y="1140802"/>
                    <a:pt x="891527" y="1181832"/>
                    <a:pt x="840914" y="1181832"/>
                  </a:cubicBezTo>
                  <a:lnTo>
                    <a:pt x="91643" y="1181832"/>
                  </a:lnTo>
                  <a:cubicBezTo>
                    <a:pt x="41030" y="1181832"/>
                    <a:pt x="0" y="1140802"/>
                    <a:pt x="0" y="1090189"/>
                  </a:cubicBezTo>
                  <a:lnTo>
                    <a:pt x="0" y="91643"/>
                  </a:lnTo>
                  <a:cubicBezTo>
                    <a:pt x="0" y="41030"/>
                    <a:pt x="41030" y="0"/>
                    <a:pt x="91643" y="0"/>
                  </a:cubicBezTo>
                  <a:close/>
                </a:path>
              </a:pathLst>
            </a:custGeom>
            <a:blipFill>
              <a:blip r:embed="rId5"/>
              <a:stretch>
                <a:fillRect l="0" t="-581" r="0" b="-581"/>
              </a:stretch>
            </a:blipFill>
          </p:spPr>
        </p:sp>
      </p:grpSp>
      <p:grpSp>
        <p:nvGrpSpPr>
          <p:cNvPr name="Group 7" id="7"/>
          <p:cNvGrpSpPr/>
          <p:nvPr/>
        </p:nvGrpSpPr>
        <p:grpSpPr>
          <a:xfrm rot="0">
            <a:off x="13534393" y="4716053"/>
            <a:ext cx="3379173" cy="4282436"/>
            <a:chOff x="0" y="0"/>
            <a:chExt cx="932557" cy="1181832"/>
          </a:xfrm>
        </p:grpSpPr>
        <p:sp>
          <p:nvSpPr>
            <p:cNvPr name="Freeform 8" id="8"/>
            <p:cNvSpPr/>
            <p:nvPr/>
          </p:nvSpPr>
          <p:spPr>
            <a:xfrm flipH="false" flipV="false" rot="0">
              <a:off x="0" y="0"/>
              <a:ext cx="932557" cy="1181832"/>
            </a:xfrm>
            <a:custGeom>
              <a:avLst/>
              <a:gdLst/>
              <a:ahLst/>
              <a:cxnLst/>
              <a:rect r="r" b="b" t="t" l="l"/>
              <a:pathLst>
                <a:path h="1181832" w="932557">
                  <a:moveTo>
                    <a:pt x="91643" y="0"/>
                  </a:moveTo>
                  <a:lnTo>
                    <a:pt x="840914" y="0"/>
                  </a:lnTo>
                  <a:cubicBezTo>
                    <a:pt x="891527" y="0"/>
                    <a:pt x="932557" y="41030"/>
                    <a:pt x="932557" y="91643"/>
                  </a:cubicBezTo>
                  <a:lnTo>
                    <a:pt x="932557" y="1090189"/>
                  </a:lnTo>
                  <a:cubicBezTo>
                    <a:pt x="932557" y="1140802"/>
                    <a:pt x="891527" y="1181832"/>
                    <a:pt x="840914" y="1181832"/>
                  </a:cubicBezTo>
                  <a:lnTo>
                    <a:pt x="91643" y="1181832"/>
                  </a:lnTo>
                  <a:cubicBezTo>
                    <a:pt x="41030" y="1181832"/>
                    <a:pt x="0" y="1140802"/>
                    <a:pt x="0" y="1090189"/>
                  </a:cubicBezTo>
                  <a:lnTo>
                    <a:pt x="0" y="91643"/>
                  </a:lnTo>
                  <a:cubicBezTo>
                    <a:pt x="0" y="41030"/>
                    <a:pt x="41030" y="0"/>
                    <a:pt x="91643" y="0"/>
                  </a:cubicBezTo>
                  <a:close/>
                </a:path>
              </a:pathLst>
            </a:custGeom>
            <a:solidFill>
              <a:srgbClr val="FFD6F3"/>
            </a:solidFill>
          </p:spPr>
        </p:sp>
      </p:grpSp>
      <p:sp>
        <p:nvSpPr>
          <p:cNvPr name="TextBox 9" id="9"/>
          <p:cNvSpPr txBox="true"/>
          <p:nvPr/>
        </p:nvSpPr>
        <p:spPr>
          <a:xfrm rot="0">
            <a:off x="1543979" y="1662162"/>
            <a:ext cx="6767805" cy="1509359"/>
          </a:xfrm>
          <a:prstGeom prst="rect">
            <a:avLst/>
          </a:prstGeom>
        </p:spPr>
        <p:txBody>
          <a:bodyPr anchor="t" rtlCol="false" tIns="0" lIns="0" bIns="0" rIns="0">
            <a:spAutoFit/>
          </a:bodyPr>
          <a:lstStyle/>
          <a:p>
            <a:pPr algn="l" marL="0" indent="0" lvl="0">
              <a:lnSpc>
                <a:spcPts val="5798"/>
              </a:lnSpc>
            </a:pPr>
            <a:r>
              <a:rPr lang="en-US" b="true" sz="5798">
                <a:solidFill>
                  <a:srgbClr val="000000"/>
                </a:solidFill>
                <a:latin typeface="Canva Sans Bold"/>
                <a:ea typeface="Canva Sans Bold"/>
                <a:cs typeface="Canva Sans Bold"/>
                <a:sym typeface="Canva Sans Bold"/>
              </a:rPr>
              <a:t>Customer Segment Overview</a:t>
            </a:r>
          </a:p>
        </p:txBody>
      </p:sp>
      <p:sp>
        <p:nvSpPr>
          <p:cNvPr name="Freeform 10" id="10"/>
          <p:cNvSpPr/>
          <p:nvPr/>
        </p:nvSpPr>
        <p:spPr>
          <a:xfrm flipH="false" flipV="false" rot="0">
            <a:off x="17071748" y="781137"/>
            <a:ext cx="2148485" cy="2148485"/>
          </a:xfrm>
          <a:custGeom>
            <a:avLst/>
            <a:gdLst/>
            <a:ahLst/>
            <a:cxnLst/>
            <a:rect r="r" b="b" t="t" l="l"/>
            <a:pathLst>
              <a:path h="2148485" w="2148485">
                <a:moveTo>
                  <a:pt x="0" y="0"/>
                </a:moveTo>
                <a:lnTo>
                  <a:pt x="2148486" y="0"/>
                </a:lnTo>
                <a:lnTo>
                  <a:pt x="2148486" y="2148485"/>
                </a:lnTo>
                <a:lnTo>
                  <a:pt x="0" y="214848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true" flipV="true" rot="-4350899">
            <a:off x="7696335" y="2960700"/>
            <a:ext cx="1230897" cy="967816"/>
          </a:xfrm>
          <a:custGeom>
            <a:avLst/>
            <a:gdLst/>
            <a:ahLst/>
            <a:cxnLst/>
            <a:rect r="r" b="b" t="t" l="l"/>
            <a:pathLst>
              <a:path h="967816" w="1230897">
                <a:moveTo>
                  <a:pt x="1230898" y="967815"/>
                </a:moveTo>
                <a:lnTo>
                  <a:pt x="0" y="967815"/>
                </a:lnTo>
                <a:lnTo>
                  <a:pt x="0" y="0"/>
                </a:lnTo>
                <a:lnTo>
                  <a:pt x="1230898" y="0"/>
                </a:lnTo>
                <a:lnTo>
                  <a:pt x="1230898" y="967815"/>
                </a:lnTo>
                <a:close/>
              </a:path>
            </a:pathLst>
          </a:custGeom>
          <a:blipFill>
            <a:blip r:embed="rId6">
              <a:extLst>
                <a:ext uri="{96DAC541-7B7A-43D3-8B79-37D633B846F1}">
                  <asvg:svgBlip xmlns:asvg="http://schemas.microsoft.com/office/drawing/2016/SVG/main" r:embed="rId7"/>
                </a:ext>
              </a:extLst>
            </a:blip>
            <a:stretch>
              <a:fillRect l="0" t="0" r="-35952" b="-47129"/>
            </a:stretch>
          </a:blipFill>
        </p:spPr>
      </p:sp>
      <p:sp>
        <p:nvSpPr>
          <p:cNvPr name="Freeform 12" id="12"/>
          <p:cNvSpPr/>
          <p:nvPr/>
        </p:nvSpPr>
        <p:spPr>
          <a:xfrm flipH="false" flipV="false" rot="0">
            <a:off x="14415044" y="5701779"/>
            <a:ext cx="2498522" cy="4851499"/>
          </a:xfrm>
          <a:custGeom>
            <a:avLst/>
            <a:gdLst/>
            <a:ahLst/>
            <a:cxnLst/>
            <a:rect r="r" b="b" t="t" l="l"/>
            <a:pathLst>
              <a:path h="4851499" w="2498522">
                <a:moveTo>
                  <a:pt x="0" y="0"/>
                </a:moveTo>
                <a:lnTo>
                  <a:pt x="2498522" y="0"/>
                </a:lnTo>
                <a:lnTo>
                  <a:pt x="2498522" y="4851498"/>
                </a:lnTo>
                <a:lnTo>
                  <a:pt x="0" y="4851498"/>
                </a:lnTo>
                <a:lnTo>
                  <a:pt x="0" y="0"/>
                </a:lnTo>
                <a:close/>
              </a:path>
            </a:pathLst>
          </a:custGeom>
          <a:blipFill>
            <a:blip r:embed="rId8"/>
            <a:stretch>
              <a:fillRect l="0" t="0" r="0" b="0"/>
            </a:stretch>
          </a:blipFill>
        </p:spPr>
      </p:sp>
      <p:sp>
        <p:nvSpPr>
          <p:cNvPr name="TextBox 13" id="13"/>
          <p:cNvSpPr txBox="true"/>
          <p:nvPr/>
        </p:nvSpPr>
        <p:spPr>
          <a:xfrm rot="0">
            <a:off x="10250368" y="1509762"/>
            <a:ext cx="6215821" cy="405808"/>
          </a:xfrm>
          <a:prstGeom prst="rect">
            <a:avLst/>
          </a:prstGeom>
        </p:spPr>
        <p:txBody>
          <a:bodyPr anchor="t" rtlCol="false" tIns="0" lIns="0" bIns="0" rIns="0">
            <a:spAutoFit/>
          </a:bodyPr>
          <a:lstStyle/>
          <a:p>
            <a:pPr algn="l" marL="0" indent="0" lvl="0">
              <a:lnSpc>
                <a:spcPts val="3357"/>
              </a:lnSpc>
            </a:pPr>
            <a:r>
              <a:rPr lang="en-US" b="true" sz="2398">
                <a:solidFill>
                  <a:srgbClr val="000000"/>
                </a:solidFill>
                <a:latin typeface="Open Sauce Bold"/>
                <a:ea typeface="Open Sauce Bold"/>
                <a:cs typeface="Open Sauce Bold"/>
                <a:sym typeface="Open Sauce Bold"/>
              </a:rPr>
              <a:t>Spice Garden Who We Serve</a:t>
            </a:r>
          </a:p>
        </p:txBody>
      </p:sp>
      <p:sp>
        <p:nvSpPr>
          <p:cNvPr name="TextBox 14" id="14"/>
          <p:cNvSpPr txBox="true"/>
          <p:nvPr/>
        </p:nvSpPr>
        <p:spPr>
          <a:xfrm rot="0">
            <a:off x="10250368" y="2029714"/>
            <a:ext cx="6450204" cy="2045212"/>
          </a:xfrm>
          <a:prstGeom prst="rect">
            <a:avLst/>
          </a:prstGeom>
        </p:spPr>
        <p:txBody>
          <a:bodyPr anchor="t" rtlCol="false" tIns="0" lIns="0" bIns="0" rIns="0">
            <a:spAutoFit/>
          </a:bodyPr>
          <a:lstStyle/>
          <a:p>
            <a:pPr algn="l" marL="0" indent="0" lvl="0">
              <a:lnSpc>
                <a:spcPts val="2771"/>
              </a:lnSpc>
            </a:pPr>
            <a:r>
              <a:rPr lang="en-US" sz="1979">
                <a:solidFill>
                  <a:srgbClr val="000000"/>
                </a:solidFill>
                <a:latin typeface="Open Sauce"/>
                <a:ea typeface="Open Sauce"/>
                <a:cs typeface="Open Sauce"/>
                <a:sym typeface="Open Sauce"/>
              </a:rPr>
              <a:t>Spice Garden sits at the centre of a diverse customer map: Students &amp; Families for everyday dining, Office Employees &amp; Couples for regular visits, and Event Organizers for B2B bulk orders. Everyday dining drives consistent revenue B2B/event clients drive larger order values.</a:t>
            </a:r>
          </a:p>
        </p:txBody>
      </p:sp>
      <p:sp>
        <p:nvSpPr>
          <p:cNvPr name="Freeform 15" id="15"/>
          <p:cNvSpPr/>
          <p:nvPr/>
        </p:nvSpPr>
        <p:spPr>
          <a:xfrm flipH="false" flipV="false" rot="0">
            <a:off x="1263472" y="737608"/>
            <a:ext cx="561013" cy="582184"/>
          </a:xfrm>
          <a:custGeom>
            <a:avLst/>
            <a:gdLst/>
            <a:ahLst/>
            <a:cxnLst/>
            <a:rect r="r" b="b" t="t" l="l"/>
            <a:pathLst>
              <a:path h="582184" w="561013">
                <a:moveTo>
                  <a:pt x="0" y="0"/>
                </a:moveTo>
                <a:lnTo>
                  <a:pt x="561013" y="0"/>
                </a:lnTo>
                <a:lnTo>
                  <a:pt x="561013" y="582184"/>
                </a:lnTo>
                <a:lnTo>
                  <a:pt x="0" y="58218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6" id="16"/>
          <p:cNvSpPr/>
          <p:nvPr/>
        </p:nvSpPr>
        <p:spPr>
          <a:xfrm flipH="false" flipV="false" rot="0">
            <a:off x="13217826" y="4227169"/>
            <a:ext cx="883010" cy="916331"/>
          </a:xfrm>
          <a:custGeom>
            <a:avLst/>
            <a:gdLst/>
            <a:ahLst/>
            <a:cxnLst/>
            <a:rect r="r" b="b" t="t" l="l"/>
            <a:pathLst>
              <a:path h="916331" w="883010">
                <a:moveTo>
                  <a:pt x="0" y="0"/>
                </a:moveTo>
                <a:lnTo>
                  <a:pt x="883009" y="0"/>
                </a:lnTo>
                <a:lnTo>
                  <a:pt x="883009" y="916331"/>
                </a:lnTo>
                <a:lnTo>
                  <a:pt x="0" y="916331"/>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FFBEF"/>
        </a:solidFill>
      </p:bgPr>
    </p:bg>
    <p:spTree>
      <p:nvGrpSpPr>
        <p:cNvPr id="1" name=""/>
        <p:cNvGrpSpPr/>
        <p:nvPr/>
      </p:nvGrpSpPr>
      <p:grpSpPr>
        <a:xfrm>
          <a:off x="0" y="0"/>
          <a:ext cx="0" cy="0"/>
          <a:chOff x="0" y="0"/>
          <a:chExt cx="0" cy="0"/>
        </a:xfrm>
      </p:grpSpPr>
      <p:sp>
        <p:nvSpPr>
          <p:cNvPr name="Freeform 2" id="2"/>
          <p:cNvSpPr/>
          <p:nvPr/>
        </p:nvSpPr>
        <p:spPr>
          <a:xfrm flipH="false" flipV="false" rot="0">
            <a:off x="-1747723" y="6810694"/>
            <a:ext cx="3147157" cy="3147157"/>
          </a:xfrm>
          <a:custGeom>
            <a:avLst/>
            <a:gdLst/>
            <a:ahLst/>
            <a:cxnLst/>
            <a:rect r="r" b="b" t="t" l="l"/>
            <a:pathLst>
              <a:path h="3147157" w="3147157">
                <a:moveTo>
                  <a:pt x="0" y="0"/>
                </a:moveTo>
                <a:lnTo>
                  <a:pt x="3147157" y="0"/>
                </a:lnTo>
                <a:lnTo>
                  <a:pt x="3147157" y="3147157"/>
                </a:lnTo>
                <a:lnTo>
                  <a:pt x="0" y="314715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645999" y="4982088"/>
            <a:ext cx="2923721" cy="1828607"/>
            <a:chOff x="0" y="0"/>
            <a:chExt cx="800310" cy="500544"/>
          </a:xfrm>
        </p:grpSpPr>
        <p:sp>
          <p:nvSpPr>
            <p:cNvPr name="Freeform 4" id="4"/>
            <p:cNvSpPr/>
            <p:nvPr/>
          </p:nvSpPr>
          <p:spPr>
            <a:xfrm flipH="false" flipV="false" rot="0">
              <a:off x="0" y="0"/>
              <a:ext cx="800310" cy="500544"/>
            </a:xfrm>
            <a:custGeom>
              <a:avLst/>
              <a:gdLst/>
              <a:ahLst/>
              <a:cxnLst/>
              <a:rect r="r" b="b" t="t" l="l"/>
              <a:pathLst>
                <a:path h="500544" w="800310">
                  <a:moveTo>
                    <a:pt x="55607" y="0"/>
                  </a:moveTo>
                  <a:lnTo>
                    <a:pt x="744702" y="0"/>
                  </a:lnTo>
                  <a:cubicBezTo>
                    <a:pt x="775414" y="0"/>
                    <a:pt x="800310" y="24896"/>
                    <a:pt x="800310" y="55607"/>
                  </a:cubicBezTo>
                  <a:lnTo>
                    <a:pt x="800310" y="444937"/>
                  </a:lnTo>
                  <a:cubicBezTo>
                    <a:pt x="800310" y="475648"/>
                    <a:pt x="775414" y="500544"/>
                    <a:pt x="744702" y="500544"/>
                  </a:cubicBezTo>
                  <a:lnTo>
                    <a:pt x="55607" y="500544"/>
                  </a:lnTo>
                  <a:cubicBezTo>
                    <a:pt x="24896" y="500544"/>
                    <a:pt x="0" y="475648"/>
                    <a:pt x="0" y="444937"/>
                  </a:cubicBezTo>
                  <a:lnTo>
                    <a:pt x="0" y="55607"/>
                  </a:lnTo>
                  <a:cubicBezTo>
                    <a:pt x="0" y="24896"/>
                    <a:pt x="24896" y="0"/>
                    <a:pt x="55607" y="0"/>
                  </a:cubicBezTo>
                  <a:close/>
                </a:path>
              </a:pathLst>
            </a:custGeom>
            <a:solidFill>
              <a:srgbClr val="FF73D8"/>
            </a:solidFill>
          </p:spPr>
        </p:sp>
        <p:sp>
          <p:nvSpPr>
            <p:cNvPr name="TextBox 5" id="5"/>
            <p:cNvSpPr txBox="true"/>
            <p:nvPr/>
          </p:nvSpPr>
          <p:spPr>
            <a:xfrm>
              <a:off x="0" y="-47625"/>
              <a:ext cx="800310" cy="548169"/>
            </a:xfrm>
            <a:prstGeom prst="rect">
              <a:avLst/>
            </a:prstGeom>
          </p:spPr>
          <p:txBody>
            <a:bodyPr anchor="ctr" rtlCol="false" tIns="50800" lIns="50800" bIns="50800" rIns="50800"/>
            <a:lstStyle/>
            <a:p>
              <a:pPr algn="ctr" marL="0" indent="0" lvl="0">
                <a:lnSpc>
                  <a:spcPts val="3359"/>
                </a:lnSpc>
              </a:pPr>
            </a:p>
          </p:txBody>
        </p:sp>
      </p:grpSp>
      <p:grpSp>
        <p:nvGrpSpPr>
          <p:cNvPr name="Group 6" id="6"/>
          <p:cNvGrpSpPr/>
          <p:nvPr/>
        </p:nvGrpSpPr>
        <p:grpSpPr>
          <a:xfrm rot="0">
            <a:off x="5638602" y="1742375"/>
            <a:ext cx="2923721" cy="2239274"/>
            <a:chOff x="0" y="0"/>
            <a:chExt cx="800310" cy="612956"/>
          </a:xfrm>
        </p:grpSpPr>
        <p:sp>
          <p:nvSpPr>
            <p:cNvPr name="Freeform 7" id="7"/>
            <p:cNvSpPr/>
            <p:nvPr/>
          </p:nvSpPr>
          <p:spPr>
            <a:xfrm flipH="false" flipV="false" rot="0">
              <a:off x="0" y="0"/>
              <a:ext cx="800310" cy="612956"/>
            </a:xfrm>
            <a:custGeom>
              <a:avLst/>
              <a:gdLst/>
              <a:ahLst/>
              <a:cxnLst/>
              <a:rect r="r" b="b" t="t" l="l"/>
              <a:pathLst>
                <a:path h="612956" w="800310">
                  <a:moveTo>
                    <a:pt x="55607" y="0"/>
                  </a:moveTo>
                  <a:lnTo>
                    <a:pt x="744702" y="0"/>
                  </a:lnTo>
                  <a:cubicBezTo>
                    <a:pt x="775414" y="0"/>
                    <a:pt x="800310" y="24896"/>
                    <a:pt x="800310" y="55607"/>
                  </a:cubicBezTo>
                  <a:lnTo>
                    <a:pt x="800310" y="557349"/>
                  </a:lnTo>
                  <a:cubicBezTo>
                    <a:pt x="800310" y="588060"/>
                    <a:pt x="775414" y="612956"/>
                    <a:pt x="744702" y="612956"/>
                  </a:cubicBezTo>
                  <a:lnTo>
                    <a:pt x="55607" y="612956"/>
                  </a:lnTo>
                  <a:cubicBezTo>
                    <a:pt x="24896" y="612956"/>
                    <a:pt x="0" y="588060"/>
                    <a:pt x="0" y="557349"/>
                  </a:cubicBezTo>
                  <a:lnTo>
                    <a:pt x="0" y="55607"/>
                  </a:lnTo>
                  <a:cubicBezTo>
                    <a:pt x="0" y="24896"/>
                    <a:pt x="24896" y="0"/>
                    <a:pt x="55607" y="0"/>
                  </a:cubicBezTo>
                  <a:close/>
                </a:path>
              </a:pathLst>
            </a:custGeom>
            <a:solidFill>
              <a:srgbClr val="FFDE59"/>
            </a:solidFill>
          </p:spPr>
        </p:sp>
        <p:sp>
          <p:nvSpPr>
            <p:cNvPr name="TextBox 8" id="8"/>
            <p:cNvSpPr txBox="true"/>
            <p:nvPr/>
          </p:nvSpPr>
          <p:spPr>
            <a:xfrm>
              <a:off x="0" y="-47625"/>
              <a:ext cx="800310" cy="660581"/>
            </a:xfrm>
            <a:prstGeom prst="rect">
              <a:avLst/>
            </a:prstGeom>
          </p:spPr>
          <p:txBody>
            <a:bodyPr anchor="ctr" rtlCol="false" tIns="50800" lIns="50800" bIns="50800" rIns="50800"/>
            <a:lstStyle/>
            <a:p>
              <a:pPr algn="ctr" marL="0" indent="0" lvl="0">
                <a:lnSpc>
                  <a:spcPts val="3359"/>
                </a:lnSpc>
              </a:pPr>
            </a:p>
          </p:txBody>
        </p:sp>
      </p:grpSp>
      <p:sp>
        <p:nvSpPr>
          <p:cNvPr name="Freeform 9" id="9"/>
          <p:cNvSpPr/>
          <p:nvPr/>
        </p:nvSpPr>
        <p:spPr>
          <a:xfrm flipH="false" flipV="false" rot="0">
            <a:off x="15285355" y="-1774015"/>
            <a:ext cx="3947890" cy="3947890"/>
          </a:xfrm>
          <a:custGeom>
            <a:avLst/>
            <a:gdLst/>
            <a:ahLst/>
            <a:cxnLst/>
            <a:rect r="r" b="b" t="t" l="l"/>
            <a:pathLst>
              <a:path h="3947890" w="3947890">
                <a:moveTo>
                  <a:pt x="0" y="0"/>
                </a:moveTo>
                <a:lnTo>
                  <a:pt x="3947890" y="0"/>
                </a:lnTo>
                <a:lnTo>
                  <a:pt x="3947890" y="3947889"/>
                </a:lnTo>
                <a:lnTo>
                  <a:pt x="0" y="39478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7222742">
            <a:off x="15682800" y="7745172"/>
            <a:ext cx="1230897" cy="967816"/>
          </a:xfrm>
          <a:custGeom>
            <a:avLst/>
            <a:gdLst/>
            <a:ahLst/>
            <a:cxnLst/>
            <a:rect r="r" b="b" t="t" l="l"/>
            <a:pathLst>
              <a:path h="967816" w="1230897">
                <a:moveTo>
                  <a:pt x="0" y="0"/>
                </a:moveTo>
                <a:lnTo>
                  <a:pt x="1230897" y="0"/>
                </a:lnTo>
                <a:lnTo>
                  <a:pt x="1230897" y="967816"/>
                </a:lnTo>
                <a:lnTo>
                  <a:pt x="0" y="967816"/>
                </a:lnTo>
                <a:lnTo>
                  <a:pt x="0" y="0"/>
                </a:lnTo>
                <a:close/>
              </a:path>
            </a:pathLst>
          </a:custGeom>
          <a:blipFill>
            <a:blip r:embed="rId4">
              <a:extLst>
                <a:ext uri="{96DAC541-7B7A-43D3-8B79-37D633B846F1}">
                  <asvg:svgBlip xmlns:asvg="http://schemas.microsoft.com/office/drawing/2016/SVG/main" r:embed="rId5"/>
                </a:ext>
              </a:extLst>
            </a:blip>
            <a:stretch>
              <a:fillRect l="0" t="0" r="-35952" b="-47129"/>
            </a:stretch>
          </a:blipFill>
        </p:spPr>
      </p:sp>
      <p:sp>
        <p:nvSpPr>
          <p:cNvPr name="Freeform 11" id="11"/>
          <p:cNvSpPr/>
          <p:nvPr/>
        </p:nvSpPr>
        <p:spPr>
          <a:xfrm flipH="false" flipV="false" rot="0">
            <a:off x="4427473" y="4428519"/>
            <a:ext cx="4020704" cy="7586234"/>
          </a:xfrm>
          <a:custGeom>
            <a:avLst/>
            <a:gdLst/>
            <a:ahLst/>
            <a:cxnLst/>
            <a:rect r="r" b="b" t="t" l="l"/>
            <a:pathLst>
              <a:path h="7586234" w="4020704">
                <a:moveTo>
                  <a:pt x="0" y="0"/>
                </a:moveTo>
                <a:lnTo>
                  <a:pt x="4020704" y="0"/>
                </a:lnTo>
                <a:lnTo>
                  <a:pt x="4020704" y="7586235"/>
                </a:lnTo>
                <a:lnTo>
                  <a:pt x="0" y="7586235"/>
                </a:lnTo>
                <a:lnTo>
                  <a:pt x="0" y="0"/>
                </a:lnTo>
                <a:close/>
              </a:path>
            </a:pathLst>
          </a:custGeom>
          <a:blipFill>
            <a:blip r:embed="rId6"/>
            <a:stretch>
              <a:fillRect l="0" t="0" r="0" b="0"/>
            </a:stretch>
          </a:blipFill>
        </p:spPr>
      </p:sp>
      <p:sp>
        <p:nvSpPr>
          <p:cNvPr name="TextBox 12" id="12"/>
          <p:cNvSpPr txBox="true"/>
          <p:nvPr/>
        </p:nvSpPr>
        <p:spPr>
          <a:xfrm rot="0">
            <a:off x="8914125" y="1921480"/>
            <a:ext cx="5316703" cy="2610999"/>
          </a:xfrm>
          <a:prstGeom prst="rect">
            <a:avLst/>
          </a:prstGeom>
        </p:spPr>
        <p:txBody>
          <a:bodyPr anchor="t" rtlCol="false" tIns="0" lIns="0" bIns="0" rIns="0">
            <a:spAutoFit/>
          </a:bodyPr>
          <a:lstStyle/>
          <a:p>
            <a:pPr algn="l" marL="0" indent="0" lvl="0">
              <a:lnSpc>
                <a:spcPts val="6795"/>
              </a:lnSpc>
            </a:pPr>
            <a:r>
              <a:rPr lang="en-US" b="true" sz="6795">
                <a:solidFill>
                  <a:srgbClr val="000000"/>
                </a:solidFill>
                <a:latin typeface="Canva Sans Bold"/>
                <a:ea typeface="Canva Sans Bold"/>
                <a:cs typeface="Canva Sans Bold"/>
                <a:sym typeface="Canva Sans Bold"/>
              </a:rPr>
              <a:t>Key Marketing Insights</a:t>
            </a:r>
          </a:p>
        </p:txBody>
      </p:sp>
      <p:sp>
        <p:nvSpPr>
          <p:cNvPr name="TextBox 13" id="13"/>
          <p:cNvSpPr txBox="true"/>
          <p:nvPr/>
        </p:nvSpPr>
        <p:spPr>
          <a:xfrm rot="0">
            <a:off x="6271027" y="2875347"/>
            <a:ext cx="1658870" cy="659856"/>
          </a:xfrm>
          <a:prstGeom prst="rect">
            <a:avLst/>
          </a:prstGeom>
        </p:spPr>
        <p:txBody>
          <a:bodyPr anchor="t" rtlCol="false" tIns="0" lIns="0" bIns="0" rIns="0">
            <a:spAutoFit/>
          </a:bodyPr>
          <a:lstStyle/>
          <a:p>
            <a:pPr algn="l" marL="0" indent="0" lvl="0">
              <a:lnSpc>
                <a:spcPts val="2655"/>
              </a:lnSpc>
            </a:pPr>
            <a:r>
              <a:rPr lang="en-US" sz="2042">
                <a:solidFill>
                  <a:srgbClr val="000000"/>
                </a:solidFill>
                <a:latin typeface="Open Sauce"/>
                <a:ea typeface="Open Sauce"/>
                <a:cs typeface="Open Sauce"/>
                <a:sym typeface="Open Sauce"/>
              </a:rPr>
              <a:t>Mass Market Audience</a:t>
            </a:r>
          </a:p>
        </p:txBody>
      </p:sp>
      <p:sp>
        <p:nvSpPr>
          <p:cNvPr name="TextBox 14" id="14"/>
          <p:cNvSpPr txBox="true"/>
          <p:nvPr/>
        </p:nvSpPr>
        <p:spPr>
          <a:xfrm rot="0">
            <a:off x="2278424" y="5909726"/>
            <a:ext cx="1658870" cy="659856"/>
          </a:xfrm>
          <a:prstGeom prst="rect">
            <a:avLst/>
          </a:prstGeom>
        </p:spPr>
        <p:txBody>
          <a:bodyPr anchor="t" rtlCol="false" tIns="0" lIns="0" bIns="0" rIns="0">
            <a:spAutoFit/>
          </a:bodyPr>
          <a:lstStyle/>
          <a:p>
            <a:pPr algn="l" marL="0" indent="0" lvl="0">
              <a:lnSpc>
                <a:spcPts val="2655"/>
              </a:lnSpc>
            </a:pPr>
            <a:r>
              <a:rPr lang="en-US" sz="2042">
                <a:solidFill>
                  <a:srgbClr val="FFFFFF"/>
                </a:solidFill>
                <a:latin typeface="Open Sauce"/>
                <a:ea typeface="Open Sauce"/>
                <a:cs typeface="Open Sauce"/>
                <a:sym typeface="Open Sauce"/>
              </a:rPr>
              <a:t>Corporate Opportunity</a:t>
            </a:r>
          </a:p>
        </p:txBody>
      </p:sp>
      <p:sp>
        <p:nvSpPr>
          <p:cNvPr name="TextBox 15" id="15"/>
          <p:cNvSpPr txBox="true"/>
          <p:nvPr/>
        </p:nvSpPr>
        <p:spPr>
          <a:xfrm rot="0">
            <a:off x="6271027" y="2195262"/>
            <a:ext cx="1235529" cy="596817"/>
          </a:xfrm>
          <a:prstGeom prst="rect">
            <a:avLst/>
          </a:prstGeom>
        </p:spPr>
        <p:txBody>
          <a:bodyPr anchor="t" rtlCol="false" tIns="0" lIns="0" bIns="0" rIns="0">
            <a:spAutoFit/>
          </a:bodyPr>
          <a:lstStyle/>
          <a:p>
            <a:pPr algn="l" marL="0" indent="0" lvl="0">
              <a:lnSpc>
                <a:spcPts val="4904"/>
              </a:lnSpc>
            </a:pPr>
            <a:r>
              <a:rPr lang="en-US" b="true" sz="3503">
                <a:solidFill>
                  <a:srgbClr val="000000"/>
                </a:solidFill>
                <a:latin typeface="Open Sauce Bold"/>
                <a:ea typeface="Open Sauce Bold"/>
                <a:cs typeface="Open Sauce Bold"/>
                <a:sym typeface="Open Sauce Bold"/>
              </a:rPr>
              <a:t>B2C</a:t>
            </a:r>
          </a:p>
        </p:txBody>
      </p:sp>
      <p:sp>
        <p:nvSpPr>
          <p:cNvPr name="TextBox 16" id="16"/>
          <p:cNvSpPr txBox="true"/>
          <p:nvPr/>
        </p:nvSpPr>
        <p:spPr>
          <a:xfrm rot="0">
            <a:off x="2278424" y="5229641"/>
            <a:ext cx="1235529" cy="596817"/>
          </a:xfrm>
          <a:prstGeom prst="rect">
            <a:avLst/>
          </a:prstGeom>
        </p:spPr>
        <p:txBody>
          <a:bodyPr anchor="t" rtlCol="false" tIns="0" lIns="0" bIns="0" rIns="0">
            <a:spAutoFit/>
          </a:bodyPr>
          <a:lstStyle/>
          <a:p>
            <a:pPr algn="l" marL="0" indent="0" lvl="0">
              <a:lnSpc>
                <a:spcPts val="4904"/>
              </a:lnSpc>
            </a:pPr>
            <a:r>
              <a:rPr lang="en-US" b="true" sz="3503">
                <a:solidFill>
                  <a:srgbClr val="FFFFFF"/>
                </a:solidFill>
                <a:latin typeface="Open Sauce Bold"/>
                <a:ea typeface="Open Sauce Bold"/>
                <a:cs typeface="Open Sauce Bold"/>
                <a:sym typeface="Open Sauce Bold"/>
              </a:rPr>
              <a:t>B2B</a:t>
            </a:r>
          </a:p>
        </p:txBody>
      </p:sp>
      <p:sp>
        <p:nvSpPr>
          <p:cNvPr name="TextBox 17" id="17"/>
          <p:cNvSpPr txBox="true"/>
          <p:nvPr/>
        </p:nvSpPr>
        <p:spPr>
          <a:xfrm rot="0">
            <a:off x="8914125" y="5446877"/>
            <a:ext cx="6952809" cy="388353"/>
          </a:xfrm>
          <a:prstGeom prst="rect">
            <a:avLst/>
          </a:prstGeom>
        </p:spPr>
        <p:txBody>
          <a:bodyPr anchor="t" rtlCol="false" tIns="0" lIns="0" bIns="0" rIns="0">
            <a:spAutoFit/>
          </a:bodyPr>
          <a:lstStyle/>
          <a:p>
            <a:pPr algn="l" marL="0" indent="0" lvl="0">
              <a:lnSpc>
                <a:spcPts val="3269"/>
              </a:lnSpc>
            </a:pPr>
            <a:r>
              <a:rPr lang="en-US" b="true" sz="2335">
                <a:solidFill>
                  <a:srgbClr val="000000"/>
                </a:solidFill>
                <a:latin typeface="Open Sauce Bold"/>
                <a:ea typeface="Open Sauce Bold"/>
                <a:cs typeface="Open Sauce Bold"/>
                <a:sym typeface="Open Sauce Bold"/>
              </a:rPr>
              <a:t>Right Customer. Right Message. Right Channel.</a:t>
            </a:r>
          </a:p>
        </p:txBody>
      </p:sp>
      <p:sp>
        <p:nvSpPr>
          <p:cNvPr name="TextBox 18" id="18"/>
          <p:cNvSpPr txBox="true"/>
          <p:nvPr/>
        </p:nvSpPr>
        <p:spPr>
          <a:xfrm rot="0">
            <a:off x="8933952" y="6201554"/>
            <a:ext cx="6655414" cy="3339465"/>
          </a:xfrm>
          <a:prstGeom prst="rect">
            <a:avLst/>
          </a:prstGeom>
        </p:spPr>
        <p:txBody>
          <a:bodyPr anchor="t" rtlCol="false" tIns="0" lIns="0" bIns="0" rIns="0">
            <a:spAutoFit/>
          </a:bodyPr>
          <a:lstStyle/>
          <a:p>
            <a:pPr algn="l" marL="0" indent="0" lvl="0">
              <a:lnSpc>
                <a:spcPts val="3359"/>
              </a:lnSpc>
            </a:pPr>
            <a:r>
              <a:rPr lang="en-US" sz="2400">
                <a:solidFill>
                  <a:srgbClr val="000000"/>
                </a:solidFill>
                <a:latin typeface="Open Sauce"/>
                <a:ea typeface="Open Sauce"/>
                <a:cs typeface="Open Sauce"/>
                <a:sym typeface="Open Sauce"/>
              </a:rPr>
              <a:t>Spice Garden operates in the Mass Market with a strong B2C base  students, families, couples and office employees. </a:t>
            </a:r>
          </a:p>
          <a:p>
            <a:pPr algn="l" marL="0" indent="0" lvl="0">
              <a:lnSpc>
                <a:spcPts val="3359"/>
              </a:lnSpc>
            </a:pPr>
          </a:p>
          <a:p>
            <a:pPr algn="l" marL="0" indent="0" lvl="0">
              <a:lnSpc>
                <a:spcPts val="3359"/>
              </a:lnSpc>
            </a:pPr>
            <a:r>
              <a:rPr lang="en-US" sz="2400">
                <a:solidFill>
                  <a:srgbClr val="000000"/>
                </a:solidFill>
                <a:latin typeface="Open Sauce"/>
                <a:ea typeface="Open Sauce"/>
                <a:cs typeface="Open Sauce"/>
                <a:sym typeface="Open Sauce"/>
              </a:rPr>
              <a:t>A growing B2B opportunity exists through corporate clients and event organizers. Digital channels like Instagram, Google Ads and influencer marketing amplify reach. </a:t>
            </a:r>
          </a:p>
        </p:txBody>
      </p:sp>
      <p:sp>
        <p:nvSpPr>
          <p:cNvPr name="Freeform 19" id="19"/>
          <p:cNvSpPr/>
          <p:nvPr/>
        </p:nvSpPr>
        <p:spPr>
          <a:xfrm flipH="false" flipV="false" rot="0">
            <a:off x="15866934" y="4561316"/>
            <a:ext cx="561013" cy="582184"/>
          </a:xfrm>
          <a:custGeom>
            <a:avLst/>
            <a:gdLst/>
            <a:ahLst/>
            <a:cxnLst/>
            <a:rect r="r" b="b" t="t" l="l"/>
            <a:pathLst>
              <a:path h="582184" w="561013">
                <a:moveTo>
                  <a:pt x="0" y="0"/>
                </a:moveTo>
                <a:lnTo>
                  <a:pt x="561013" y="0"/>
                </a:lnTo>
                <a:lnTo>
                  <a:pt x="561013" y="582184"/>
                </a:lnTo>
                <a:lnTo>
                  <a:pt x="0" y="58218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0" id="20"/>
          <p:cNvSpPr/>
          <p:nvPr/>
        </p:nvSpPr>
        <p:spPr>
          <a:xfrm flipH="false" flipV="false" rot="-8850174">
            <a:off x="562335" y="1392599"/>
            <a:ext cx="932731" cy="967928"/>
          </a:xfrm>
          <a:custGeom>
            <a:avLst/>
            <a:gdLst/>
            <a:ahLst/>
            <a:cxnLst/>
            <a:rect r="r" b="b" t="t" l="l"/>
            <a:pathLst>
              <a:path h="967928" w="932731">
                <a:moveTo>
                  <a:pt x="0" y="0"/>
                </a:moveTo>
                <a:lnTo>
                  <a:pt x="932730" y="0"/>
                </a:lnTo>
                <a:lnTo>
                  <a:pt x="932730" y="967928"/>
                </a:lnTo>
                <a:lnTo>
                  <a:pt x="0" y="96792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DAHTTNFL-Dk</dc:identifier>
  <dcterms:modified xsi:type="dcterms:W3CDTF">2011-08-01T06:04:30Z</dcterms:modified>
  <cp:revision>1</cp:revision>
  <dc:title>Spice Garden: Customer</dc:title>
</cp:coreProperties>
</file>